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D4D35"/>
    <a:srgbClr val="2C2C2C"/>
    <a:srgbClr val="1B3022"/>
    <a:srgbClr val="2D5139"/>
    <a:srgbClr val="F9F9F9"/>
    <a:srgbClr val="D5BF7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79943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Goeiemôre almal. Ons stel vandag die Highveld Boerdery Bestuurstelsel bekend, 'n digitale oplossing wat die toekoms van skaapboerdery in Suid-Afrika sal vorm. Hierdie stelsel is ontwerp om die komplekse uitdagings van moderne boerdery te vereenvoudig en te stroomlyn. Dit bied 'n omvattende platform wat die kernbehoeftes van 'n boerdery aanspreek. Ons gaan nou dieper delf in die strategiese doelwitte wat hierdie stelsel dryf.</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Ons stelsel se kern lê in sy strategiese doelwit: om boerdery-operasies te transformeer deur skaalbaarheid, doeltreffendheid en data-gedrewe besluitneming. Die stelsel is gebou om saam met u boerdery te groei, wat verseker dat dit relevant bly, ongeag die omvang van u bedrywighede. Dit outomatiseer tydrowende take, verminder menslike foute en stel u in staat om intydse data te gebruik vir beter besluite. Hierdie fundamentele beginsels vorm die basis van ons waarde-proposisie. Kom ons kyk nou hoe hierdie visie in ons visuele identiteit en gebruikerservaring manifesteer.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Voortbouend op ons strategiese doelwitte, is die visuele identiteit en gebruikerservaring van die Highveld Boerdery Bestuurstelsel ontwerp om vertroue en gebruiksgemak te inspireer. Die estetika weerspieël die natuurlike skoonheid van die Highveld, gekombineer met 'n professionele en skoon uitleg wat onmiddellik vertroue wek. Ons het 'n intuïtiewe navigasie geskep wat gebruikers toelaat om vinnig toegang tot kritieke funksies te verkry, wat die leerproses minimaliseer. Verder verseker die hoë kontras en duidelike tipografie optimale leesbaarheid in enige omgewing. Dit alles dra by tot 'n naatlose ervaring, wat ons nou sal sien in die omvattende voorraadbestuur funksionaliteit.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hart van enige suksesvolle boerdery is effektiewe voorraadbestuur, en ons stelsel bied 'n omvattende CRUD-oplossing. Hierdie administratiewe koppelvlak beheer die volle lewensiklus van u plaasvoorraad, van die skepping van nuwe items tot die veilige verwydering van ou data. Elke aksie word outomaties in 'n transaksie-log aangeteken, wat 'n volledige ouditspoor bied en finansiële integriteit verseker. Dit beteken u het altyd 'n akkurate oorsig van u bates en voorraadvlakke. Hierdie presisie word moontlik gemaak deur ons gevorderde databasis argitektuur.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ruggraat van ons stelsel is 'n gevorderde databasis argitektuur wat relasionele integriteit prioritiseer. Ons het 'n robuuste relasionele model ontwikkel wat verseker dat alle data, van voorraad tot gebruikers en bestellings, altyd gesinchroniseer en akkuraat is. Dit elimineer teenstrydighede en bied 'n betroubare grondslag vir al u besluitneming. Die gebruik van 'n LocalStorage JSON-stelsel verseker onmiddellike data-retensie en vinnige toegang. Hierdie argitektuur is die basis vir ons volgende kenmerk: die inkopiemandjie en verkope-stroom.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Ons stelsel bied 'n naatlose e-handel ervaring, wat kliënte in staat stel om plaasprodukte direk te besigtig en te bestel. Hierdie integrasie verseker dat verkope onmiddellik in u finansiële rekords reflekteer. Kliënte kan produkte uit 'n dinamiese katalogus kies, met intydse prysberekeninge in die mandjie. Elke bestelling genereer 'n unieke nommer en word permanent in die BESTELLING tabel gestoor, wat 'n volledige ouditspoor bied. Dit stroomlyn die verkoopproses en bied waardevolle insigte in kliëntgedrag. Hierdie robuuste verkoopsfunksionaliteit bou voort op die gevorderde databasis argitektuur wat ons vroeër bespreek het. Vervolgens kyk ons na hoe ons operasionele beplanning verder geoptimaliseer word.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geïntegreerde kalender is 'n kragtige instrument vir proaktiewe bestuur van plaasaktiwiteite, wat verseker dat geen kritieke gebeurtenis oor die hoof gesien word nie. Dit skeduleer entings en mediese ondersoeke, beplan skeer-seisoene en wol-insameling, en bestuur datums vir veilings en produk-lewerings. Hierdie sentrale beplanningshulpmiddel verminder die risiko van menslike foute en optimaliseer hulpbronbesteding. Dit is 'n direkte voortsetting van ons verbintenis tot doeltreffendheid, wat begin het met die stroomlyning van verkope. Nou sal ons sien hoe hierdie stelsel op enige toestel presteer.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Ons demonstreer nou die bewese responsiwiteit van die stelsel op alle toestelle, wat 'n naatlose gebruikerservaring verseker, ongeag die platform. Die lessenaar-aansig bied 'n volledige administratiewe paneel vir komplekse data-tabelle, ideaal vir kantoorgebruik. Op tablette pas die roosteruitleg aan om optimale gebruik van skermspasie te maak, wat buigsaamheid bied vir mobiele werk. Vir slimfone is die koppelvlak vereenvoudig met vinnige aksies, perfek vir gebruik direk in die veld. Hierdie aanpasbaarheid is krities vir 'n moderne boerdery, en dit bou voort op die operasionele doeltreffendheid wat ons kalenderfunksie bied. Kom ons kyk nou na die toekoms van hierdie oplossings.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Ons kyk nou na toekomsgerigte oplossings en groei, wat die langtermynvisie vir hierdie stelsel uiteensit. Ons beplan wolk-integrasie vir migrasie na gesentraliseerde SQL-bedieners, wat intydse multi-gebruiker samewerking moontlik maak. Verder sal IoT-monitering geïntegreer word met slim-sensors vir outomatiese monitering van water- en voervlakke, wat doeltreffendheid verder verhoog. Laastens sal KI-analise voorspellende vermoëns bied vir optimale mark-gereedheid en wol-opbrengs voorspellings. Dit alles verseker dat die Highveld Boerdery Bestuurstelsel gereed is vir die toekoms van boerdery.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73309775"/>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9307089"/>
      </p:ext>
    </p:extLst>
  </p:cSld>
  <p:clrMap bg1="lt1" tx1="dk1" bg2="lt2" tx2="dk2" accent1="accent1" accent2="accent2" accent3="accent3" accent4="accent4" accent5="accent5" accent6="accent6" hlink="hlink" folHlink="folHlink"/>
  <p:sldLayoutIdLst>
    <p:sldLayoutId id="2147483651"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7"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4.jpeg"/></Relationships>
</file>

<file path=ppt/slides/_rels/slide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8.jpeg"/></Relationships>
</file>

<file path=ppt/slides/_rels/slide7.xml.rels><?xml version="1.0" encoding="UTF-8" standalone="yes"?>
<Relationships xmlns="http://schemas.openxmlformats.org/package/2006/relationships"><Relationship Id="rId3" Type="http://schemas.openxmlformats.org/officeDocument/2006/relationships/image" Target="../media/image19.jpeg"/><Relationship Id="rId7"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jpeg"/></Relationships>
</file>

<file path=ppt/slides/_rels/slide8.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9.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pic>
        <p:nvPicPr>
          <p:cNvPr id="4" name="Image 1" descr="preencoded.png"/>
          <p:cNvPicPr>
            <a:picLocks noChangeAspect="1"/>
          </p:cNvPicPr>
          <p:nvPr/>
        </p:nvPicPr>
        <p:blipFill>
          <a:blip r:embed="rId4"/>
          <a:stretch>
            <a:fillRect/>
          </a:stretch>
        </p:blipFill>
        <p:spPr>
          <a:xfrm>
            <a:off x="0" y="0"/>
            <a:ext cx="4214813" cy="5143500"/>
          </a:xfrm>
          <a:prstGeom prst="rect">
            <a:avLst/>
          </a:prstGeom>
        </p:spPr>
      </p:pic>
      <p:sp>
        <p:nvSpPr>
          <p:cNvPr id="5" name="Text 0"/>
          <p:cNvSpPr/>
          <p:nvPr/>
        </p:nvSpPr>
        <p:spPr>
          <a:xfrm>
            <a:off x="4643438" y="1742656"/>
            <a:ext cx="4214813" cy="848655"/>
          </a:xfrm>
          <a:prstGeom prst="rect">
            <a:avLst/>
          </a:prstGeom>
          <a:noFill/>
          <a:ln/>
        </p:spPr>
        <p:txBody>
          <a:bodyPr wrap="square" lIns="0" tIns="0" rIns="0" bIns="0" rtlCol="0" anchor="t">
            <a:spAutoFit/>
          </a:bodyPr>
          <a:lstStyle/>
          <a:p>
            <a:pPr marL="0" indent="0" algn="l">
              <a:lnSpc>
                <a:spcPct val="88000"/>
              </a:lnSpc>
              <a:buNone/>
            </a:pPr>
            <a:r>
              <a:rPr lang="en-US" sz="2750" b="1" dirty="0">
                <a:solidFill>
                  <a:srgbClr val="F9F9F9"/>
                </a:solidFill>
                <a:latin typeface="Montserrat Bold" pitchFamily="34" charset="0"/>
                <a:ea typeface="Montserrat Bold" pitchFamily="34" charset="-122"/>
                <a:cs typeface="Montserrat Bold" pitchFamily="34" charset="-120"/>
              </a:rPr>
              <a:t>Highveld Boerdery Bestuurstelsel</a:t>
            </a:r>
            <a:endParaRPr lang="en-US" sz="2750" dirty="0"/>
          </a:p>
        </p:txBody>
      </p:sp>
      <p:sp>
        <p:nvSpPr>
          <p:cNvPr id="6" name="Text 1"/>
          <p:cNvSpPr/>
          <p:nvPr/>
        </p:nvSpPr>
        <p:spPr>
          <a:xfrm>
            <a:off x="4643438" y="2905637"/>
            <a:ext cx="4214813" cy="417909"/>
          </a:xfrm>
          <a:prstGeom prst="rect">
            <a:avLst/>
          </a:prstGeom>
          <a:noFill/>
          <a:ln/>
        </p:spPr>
        <p:txBody>
          <a:bodyPr wrap="square" lIns="0" tIns="0" rIns="0" bIns="0" rtlCol="0" anchor="t">
            <a:spAutoFit/>
          </a:bodyPr>
          <a:lstStyle/>
          <a:p>
            <a:pPr marL="0" indent="0" algn="l">
              <a:buNone/>
            </a:pPr>
            <a:r>
              <a:rPr lang="en-US" sz="1250" dirty="0">
                <a:solidFill>
                  <a:srgbClr val="D4AF37"/>
                </a:solidFill>
                <a:latin typeface="Montserrat" pitchFamily="34" charset="0"/>
                <a:ea typeface="Montserrat" pitchFamily="34" charset="-122"/>
                <a:cs typeface="Montserrat" pitchFamily="34" charset="-120"/>
              </a:rPr>
              <a:t>'n Omvattende Digitale Oplossing vir Moderne Skaapboerdery</a:t>
            </a:r>
            <a:endParaRPr lang="en-US" sz="1250" dirty="0"/>
          </a:p>
        </p:txBody>
      </p:sp>
      <p:sp>
        <p:nvSpPr>
          <p:cNvPr id="7" name="Text 2"/>
          <p:cNvSpPr/>
          <p:nvPr/>
        </p:nvSpPr>
        <p:spPr>
          <a:xfrm>
            <a:off x="4643438" y="3609296"/>
            <a:ext cx="4214813" cy="317908"/>
          </a:xfrm>
          <a:prstGeom prst="rect">
            <a:avLst/>
          </a:prstGeom>
          <a:noFill/>
          <a:ln/>
        </p:spPr>
        <p:txBody>
          <a:bodyPr wrap="square" lIns="0" tIns="170053" rIns="0" bIns="0" rtlCol="0" anchor="t">
            <a:spAutoFit/>
          </a:bodyPr>
          <a:lstStyle/>
          <a:p>
            <a:pPr marL="0" indent="0" algn="l">
              <a:buNone/>
            </a:pPr>
            <a:r>
              <a:rPr lang="en-US" sz="950" dirty="0" err="1">
                <a:solidFill>
                  <a:srgbClr val="F9F9F9"/>
                </a:solidFill>
                <a:latin typeface="Montserrat" pitchFamily="34" charset="0"/>
                <a:ea typeface="Montserrat" pitchFamily="34" charset="-122"/>
                <a:cs typeface="Montserrat" pitchFamily="34" charset="-120"/>
              </a:rPr>
              <a:t>Voorberei</a:t>
            </a:r>
            <a:r>
              <a:rPr lang="en-US" sz="950" dirty="0">
                <a:solidFill>
                  <a:srgbClr val="F9F9F9"/>
                </a:solidFill>
                <a:latin typeface="Montserrat" pitchFamily="34" charset="0"/>
                <a:ea typeface="Montserrat" pitchFamily="34" charset="-122"/>
                <a:cs typeface="Montserrat" pitchFamily="34" charset="-120"/>
              </a:rPr>
              <a:t> deur: Noelle Steenkamp</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Shape 0"/>
          <p:cNvSpPr/>
          <p:nvPr/>
        </p:nvSpPr>
        <p:spPr>
          <a:xfrm>
            <a:off x="142875" y="0"/>
            <a:ext cx="8429625" cy="951905"/>
          </a:xfrm>
          <a:prstGeom prst="rect">
            <a:avLst/>
          </a:prstGeom>
          <a:solidFill>
            <a:srgbClr val="000000">
              <a:alpha val="0"/>
            </a:srgbClr>
          </a:solidFill>
          <a:ln/>
        </p:spPr>
        <p:txBody>
          <a:bodyPr/>
          <a:lstStyle/>
          <a:p>
            <a:endParaRPr lang="en-ZA"/>
          </a:p>
        </p:txBody>
      </p:sp>
      <p:sp>
        <p:nvSpPr>
          <p:cNvPr id="5" name="Shape 1"/>
          <p:cNvSpPr/>
          <p:nvPr/>
        </p:nvSpPr>
        <p:spPr>
          <a:xfrm>
            <a:off x="142875" y="866179"/>
            <a:ext cx="8429625" cy="14288"/>
          </a:xfrm>
          <a:prstGeom prst="rect">
            <a:avLst/>
          </a:prstGeom>
          <a:solidFill>
            <a:srgbClr val="D4AF37"/>
          </a:solidFill>
          <a:ln/>
        </p:spPr>
        <p:txBody>
          <a:bodyPr/>
          <a:lstStyle/>
          <a:p>
            <a:endParaRPr lang="en-ZA"/>
          </a:p>
        </p:txBody>
      </p:sp>
      <p:sp>
        <p:nvSpPr>
          <p:cNvPr id="6" name="Text 2"/>
          <p:cNvSpPr/>
          <p:nvPr/>
        </p:nvSpPr>
        <p:spPr>
          <a:xfrm>
            <a:off x="714375" y="428625"/>
            <a:ext cx="7858125" cy="366117"/>
          </a:xfrm>
          <a:prstGeom prst="rect">
            <a:avLst/>
          </a:prstGeom>
          <a:noFill/>
          <a:ln/>
        </p:spPr>
        <p:txBody>
          <a:bodyPr wrap="square" lIns="0" tIns="0" rIns="0" bIns="0" rtlCol="0" anchor="t">
            <a:spAutoFit/>
          </a:bodyPr>
          <a:lstStyle/>
          <a:p>
            <a:pPr marL="0" indent="0" algn="l">
              <a:buNone/>
            </a:pPr>
            <a:r>
              <a:rPr lang="en-US" sz="2100" b="1" dirty="0">
                <a:solidFill>
                  <a:srgbClr val="1B3022"/>
                </a:solidFill>
                <a:latin typeface="Montserrat Bold" pitchFamily="34" charset="0"/>
                <a:ea typeface="Montserrat Bold" pitchFamily="34" charset="-122"/>
                <a:cs typeface="Montserrat Bold" pitchFamily="34" charset="-120"/>
              </a:rPr>
              <a:t>Strategiese Doelwit en Waarde-proposisie</a:t>
            </a:r>
            <a:endParaRPr lang="en-US" sz="2100" dirty="0"/>
          </a:p>
        </p:txBody>
      </p:sp>
      <p:pic>
        <p:nvPicPr>
          <p:cNvPr id="7" name="Image 1" descr="preencoded.png"/>
          <p:cNvPicPr>
            <a:picLocks noChangeAspect="1"/>
          </p:cNvPicPr>
          <p:nvPr/>
        </p:nvPicPr>
        <p:blipFill>
          <a:blip r:embed="rId4"/>
          <a:stretch>
            <a:fillRect/>
          </a:stretch>
        </p:blipFill>
        <p:spPr>
          <a:xfrm>
            <a:off x="714375" y="1346597"/>
            <a:ext cx="171450" cy="171450"/>
          </a:xfrm>
          <a:prstGeom prst="rect">
            <a:avLst/>
          </a:prstGeom>
        </p:spPr>
      </p:pic>
      <p:sp>
        <p:nvSpPr>
          <p:cNvPr id="8" name="Text 3"/>
          <p:cNvSpPr/>
          <p:nvPr/>
        </p:nvSpPr>
        <p:spPr>
          <a:xfrm>
            <a:off x="1028700" y="1451967"/>
            <a:ext cx="3400425" cy="191095"/>
          </a:xfrm>
          <a:prstGeom prst="rect">
            <a:avLst/>
          </a:prstGeom>
          <a:noFill/>
          <a:ln/>
        </p:spPr>
        <p:txBody>
          <a:bodyPr wrap="square" lIns="0" tIns="0" rIns="0" bIns="0" rtlCol="0" anchor="t">
            <a:spAutoFit/>
          </a:bodyPr>
          <a:lstStyle/>
          <a:p>
            <a:pPr marL="0" indent="0" algn="l">
              <a:buNone/>
            </a:pPr>
            <a:r>
              <a:rPr lang="en-US" sz="1100" b="1" dirty="0">
                <a:solidFill>
                  <a:srgbClr val="1B3022"/>
                </a:solidFill>
                <a:latin typeface="Montserrat Bold" pitchFamily="34" charset="0"/>
                <a:ea typeface="Montserrat Bold" pitchFamily="34" charset="-122"/>
                <a:cs typeface="Montserrat Bold" pitchFamily="34" charset="-120"/>
              </a:rPr>
              <a:t>Skaalbaarheid</a:t>
            </a:r>
            <a:endParaRPr lang="en-US" sz="1100" dirty="0"/>
          </a:p>
        </p:txBody>
      </p:sp>
      <p:sp>
        <p:nvSpPr>
          <p:cNvPr id="9" name="Text 4"/>
          <p:cNvSpPr/>
          <p:nvPr/>
        </p:nvSpPr>
        <p:spPr>
          <a:xfrm>
            <a:off x="1028700" y="1757363"/>
            <a:ext cx="3400425" cy="342900"/>
          </a:xfrm>
          <a:prstGeom prst="rect">
            <a:avLst/>
          </a:prstGeom>
          <a:noFill/>
          <a:ln/>
        </p:spPr>
        <p:txBody>
          <a:bodyPr wrap="square" lIns="0" tIns="0" rIns="0" bIns="0" rtlCol="0" anchor="t">
            <a:spAutoFit/>
          </a:bodyPr>
          <a:lstStyle/>
          <a:p>
            <a:pPr marL="0" indent="0" algn="l">
              <a:lnSpc>
                <a:spcPct val="120000"/>
              </a:lnSpc>
              <a:buNone/>
            </a:pPr>
            <a:r>
              <a:rPr lang="en-US" sz="850" dirty="0">
                <a:solidFill>
                  <a:srgbClr val="555555"/>
                </a:solidFill>
                <a:latin typeface="Montserrat" pitchFamily="34" charset="0"/>
                <a:ea typeface="Montserrat" pitchFamily="34" charset="-122"/>
                <a:cs typeface="Montserrat" pitchFamily="34" charset="-120"/>
              </a:rPr>
              <a:t>Ontwerp om naatloos uit te brei namate die boerdery-onderneming en data-behoeftes groei.</a:t>
            </a:r>
            <a:endParaRPr lang="en-US" sz="850" dirty="0"/>
          </a:p>
        </p:txBody>
      </p:sp>
      <p:pic>
        <p:nvPicPr>
          <p:cNvPr id="10" name="Image 2" descr="preencoded.png"/>
          <p:cNvPicPr>
            <a:picLocks noChangeAspect="1"/>
          </p:cNvPicPr>
          <p:nvPr/>
        </p:nvPicPr>
        <p:blipFill>
          <a:blip r:embed="rId5"/>
          <a:stretch>
            <a:fillRect/>
          </a:stretch>
        </p:blipFill>
        <p:spPr>
          <a:xfrm>
            <a:off x="714375" y="2444948"/>
            <a:ext cx="128588" cy="171450"/>
          </a:xfrm>
          <a:prstGeom prst="rect">
            <a:avLst/>
          </a:prstGeom>
        </p:spPr>
      </p:pic>
      <p:sp>
        <p:nvSpPr>
          <p:cNvPr id="11" name="Text 5"/>
          <p:cNvSpPr/>
          <p:nvPr/>
        </p:nvSpPr>
        <p:spPr>
          <a:xfrm>
            <a:off x="985838" y="2550319"/>
            <a:ext cx="3443288" cy="191095"/>
          </a:xfrm>
          <a:prstGeom prst="rect">
            <a:avLst/>
          </a:prstGeom>
          <a:noFill/>
          <a:ln/>
        </p:spPr>
        <p:txBody>
          <a:bodyPr wrap="square" lIns="0" tIns="0" rIns="0" bIns="0" rtlCol="0" anchor="t">
            <a:spAutoFit/>
          </a:bodyPr>
          <a:lstStyle/>
          <a:p>
            <a:pPr marL="0" indent="0" algn="l">
              <a:buNone/>
            </a:pPr>
            <a:r>
              <a:rPr lang="en-US" sz="1100" b="1" dirty="0">
                <a:solidFill>
                  <a:srgbClr val="1B3022"/>
                </a:solidFill>
                <a:latin typeface="Montserrat Bold" pitchFamily="34" charset="0"/>
                <a:ea typeface="Montserrat Bold" pitchFamily="34" charset="-122"/>
                <a:cs typeface="Montserrat Bold" pitchFamily="34" charset="-120"/>
              </a:rPr>
              <a:t>Doeltreffendheid</a:t>
            </a:r>
            <a:endParaRPr lang="en-US" sz="1100" dirty="0"/>
          </a:p>
        </p:txBody>
      </p:sp>
      <p:sp>
        <p:nvSpPr>
          <p:cNvPr id="12" name="Text 6"/>
          <p:cNvSpPr/>
          <p:nvPr/>
        </p:nvSpPr>
        <p:spPr>
          <a:xfrm>
            <a:off x="985838" y="2855714"/>
            <a:ext cx="3443288" cy="342900"/>
          </a:xfrm>
          <a:prstGeom prst="rect">
            <a:avLst/>
          </a:prstGeom>
          <a:noFill/>
          <a:ln/>
        </p:spPr>
        <p:txBody>
          <a:bodyPr wrap="square" lIns="0" tIns="0" rIns="0" bIns="0" rtlCol="0" anchor="t">
            <a:spAutoFit/>
          </a:bodyPr>
          <a:lstStyle/>
          <a:p>
            <a:pPr marL="0" indent="0" algn="l">
              <a:lnSpc>
                <a:spcPct val="120000"/>
              </a:lnSpc>
              <a:buNone/>
            </a:pPr>
            <a:r>
              <a:rPr lang="en-US" sz="850" dirty="0">
                <a:solidFill>
                  <a:srgbClr val="555555"/>
                </a:solidFill>
                <a:latin typeface="Montserrat" pitchFamily="34" charset="0"/>
                <a:ea typeface="Montserrat" pitchFamily="34" charset="-122"/>
                <a:cs typeface="Montserrat" pitchFamily="34" charset="-120"/>
              </a:rPr>
              <a:t>Outomatisering van rekords wat menslike foute uitskakel en tyd bespaar in daaglikse bestuur.</a:t>
            </a:r>
            <a:endParaRPr lang="en-US" sz="850" dirty="0"/>
          </a:p>
        </p:txBody>
      </p:sp>
      <p:pic>
        <p:nvPicPr>
          <p:cNvPr id="13" name="Image 3" descr="preencoded.png"/>
          <p:cNvPicPr>
            <a:picLocks noChangeAspect="1"/>
          </p:cNvPicPr>
          <p:nvPr/>
        </p:nvPicPr>
        <p:blipFill>
          <a:blip r:embed="rId6"/>
          <a:stretch>
            <a:fillRect/>
          </a:stretch>
        </p:blipFill>
        <p:spPr>
          <a:xfrm>
            <a:off x="714375" y="3543300"/>
            <a:ext cx="150019" cy="171450"/>
          </a:xfrm>
          <a:prstGeom prst="rect">
            <a:avLst/>
          </a:prstGeom>
        </p:spPr>
      </p:pic>
      <p:sp>
        <p:nvSpPr>
          <p:cNvPr id="14" name="Text 7"/>
          <p:cNvSpPr/>
          <p:nvPr/>
        </p:nvSpPr>
        <p:spPr>
          <a:xfrm>
            <a:off x="1007269" y="3648670"/>
            <a:ext cx="3421856" cy="191095"/>
          </a:xfrm>
          <a:prstGeom prst="rect">
            <a:avLst/>
          </a:prstGeom>
          <a:noFill/>
          <a:ln/>
        </p:spPr>
        <p:txBody>
          <a:bodyPr wrap="square" lIns="0" tIns="0" rIns="0" bIns="0" rtlCol="0" anchor="t">
            <a:spAutoFit/>
          </a:bodyPr>
          <a:lstStyle/>
          <a:p>
            <a:pPr marL="0" indent="0" algn="l">
              <a:buNone/>
            </a:pPr>
            <a:r>
              <a:rPr lang="en-US" sz="1100" b="1" dirty="0">
                <a:solidFill>
                  <a:srgbClr val="1B3022"/>
                </a:solidFill>
                <a:latin typeface="Montserrat Bold" pitchFamily="34" charset="0"/>
                <a:ea typeface="Montserrat Bold" pitchFamily="34" charset="-122"/>
                <a:cs typeface="Montserrat Bold" pitchFamily="34" charset="-120"/>
              </a:rPr>
              <a:t>Data-Gedrewe Besluite</a:t>
            </a:r>
            <a:endParaRPr lang="en-US" sz="1100" dirty="0"/>
          </a:p>
        </p:txBody>
      </p:sp>
      <p:sp>
        <p:nvSpPr>
          <p:cNvPr id="15" name="Text 8"/>
          <p:cNvSpPr/>
          <p:nvPr/>
        </p:nvSpPr>
        <p:spPr>
          <a:xfrm>
            <a:off x="1007269" y="3954066"/>
            <a:ext cx="3421856" cy="342900"/>
          </a:xfrm>
          <a:prstGeom prst="rect">
            <a:avLst/>
          </a:prstGeom>
          <a:noFill/>
          <a:ln/>
        </p:spPr>
        <p:txBody>
          <a:bodyPr wrap="square" lIns="0" tIns="0" rIns="0" bIns="0" rtlCol="0" anchor="t">
            <a:spAutoFit/>
          </a:bodyPr>
          <a:lstStyle/>
          <a:p>
            <a:pPr marL="0" indent="0" algn="l">
              <a:lnSpc>
                <a:spcPct val="120000"/>
              </a:lnSpc>
              <a:buNone/>
            </a:pPr>
            <a:r>
              <a:rPr lang="en-US" sz="850" dirty="0">
                <a:solidFill>
                  <a:srgbClr val="555555"/>
                </a:solidFill>
                <a:latin typeface="Montserrat" pitchFamily="34" charset="0"/>
                <a:ea typeface="Montserrat" pitchFamily="34" charset="-122"/>
                <a:cs typeface="Montserrat" pitchFamily="34" charset="-120"/>
              </a:rPr>
              <a:t>Intydse insigte wat boere help om ingeligte besluite oor voorraad en verkope te neem.</a:t>
            </a:r>
            <a:endParaRPr lang="en-US" sz="850" dirty="0"/>
          </a:p>
        </p:txBody>
      </p:sp>
      <p:pic>
        <p:nvPicPr>
          <p:cNvPr id="16" name="Image 4" descr="preencoded.png"/>
          <p:cNvPicPr>
            <a:picLocks noChangeAspect="1"/>
          </p:cNvPicPr>
          <p:nvPr/>
        </p:nvPicPr>
        <p:blipFill>
          <a:blip r:embed="rId7"/>
          <a:stretch>
            <a:fillRect/>
          </a:stretch>
        </p:blipFill>
        <p:spPr>
          <a:xfrm>
            <a:off x="4929188" y="1366242"/>
            <a:ext cx="3571875" cy="28575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p:cNvPicPr>
            <a:picLocks noChangeAspect="1"/>
          </p:cNvPicPr>
          <p:nvPr/>
        </p:nvPicPr>
        <p:blipFill>
          <a:blip r:embed="rId3"/>
          <a:srcRect/>
          <a:stretch/>
        </p:blipFill>
        <p:spPr>
          <a:xfrm>
            <a:off x="0" y="0"/>
            <a:ext cx="9144000" cy="5143500"/>
          </a:xfrm>
          <a:prstGeom prst="rect">
            <a:avLst/>
          </a:prstGeom>
        </p:spPr>
      </p:pic>
      <p:sp>
        <p:nvSpPr>
          <p:cNvPr id="27" name="Rectangle 26">
            <a:extLst>
              <a:ext uri="{FF2B5EF4-FFF2-40B4-BE49-F238E27FC236}">
                <a16:creationId xmlns:a16="http://schemas.microsoft.com/office/drawing/2014/main" id="{039B8DC4-2441-E3AC-713C-431CDB45F4A9}"/>
              </a:ext>
            </a:extLst>
          </p:cNvPr>
          <p:cNvSpPr/>
          <p:nvPr/>
        </p:nvSpPr>
        <p:spPr>
          <a:xfrm>
            <a:off x="5018484" y="1055077"/>
            <a:ext cx="3446860" cy="24684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4" name="Text 0"/>
          <p:cNvSpPr/>
          <p:nvPr/>
        </p:nvSpPr>
        <p:spPr>
          <a:xfrm>
            <a:off x="678656" y="564356"/>
            <a:ext cx="8465344" cy="346249"/>
          </a:xfrm>
          <a:prstGeom prst="rect">
            <a:avLst/>
          </a:prstGeom>
          <a:noFill/>
          <a:ln/>
        </p:spPr>
        <p:txBody>
          <a:bodyPr wrap="square" lIns="0" tIns="0" rIns="0" bIns="0" rtlCol="0" anchor="t">
            <a:spAutoFit/>
          </a:bodyPr>
          <a:lstStyle/>
          <a:p>
            <a:pPr marL="0" indent="0" algn="l">
              <a:buNone/>
            </a:pPr>
            <a:r>
              <a:rPr lang="en-US" sz="2250" b="1" kern="0" spc="2" dirty="0">
                <a:solidFill>
                  <a:srgbClr val="1B3022"/>
                </a:solidFill>
                <a:latin typeface="Montserrat Bold" pitchFamily="34" charset="0"/>
                <a:ea typeface="Montserrat Bold" pitchFamily="34" charset="-122"/>
                <a:cs typeface="Montserrat Bold" pitchFamily="34" charset="-120"/>
              </a:rPr>
              <a:t>OPERASIONELE VOORDELE &amp; IMPAK</a:t>
            </a:r>
            <a:endParaRPr lang="en-US" sz="2250" dirty="0">
              <a:solidFill>
                <a:srgbClr val="1B3022"/>
              </a:solidFill>
            </a:endParaRPr>
          </a:p>
        </p:txBody>
      </p:sp>
      <p:sp>
        <p:nvSpPr>
          <p:cNvPr id="5" name="Shape 1"/>
          <p:cNvSpPr/>
          <p:nvPr/>
        </p:nvSpPr>
        <p:spPr>
          <a:xfrm>
            <a:off x="678656" y="1375172"/>
            <a:ext cx="3661172" cy="3086100"/>
          </a:xfrm>
          <a:prstGeom prst="rect">
            <a:avLst/>
          </a:prstGeom>
          <a:solidFill>
            <a:srgbClr val="1B3022"/>
          </a:solidFill>
          <a:ln w="9144">
            <a:solidFill>
              <a:srgbClr val="D4AF37">
                <a:alpha val="50000"/>
              </a:srgbClr>
            </a:solidFill>
            <a:prstDash val="solid"/>
          </a:ln>
        </p:spPr>
        <p:txBody>
          <a:bodyPr/>
          <a:lstStyle/>
          <a:p>
            <a:endParaRPr lang="en-ZA"/>
          </a:p>
        </p:txBody>
      </p:sp>
      <p:pic>
        <p:nvPicPr>
          <p:cNvPr id="6" name="Image 1" descr="preencoded.png"/>
          <p:cNvPicPr>
            <a:picLocks noChangeAspect="1"/>
          </p:cNvPicPr>
          <p:nvPr/>
        </p:nvPicPr>
        <p:blipFill>
          <a:blip r:embed="rId4"/>
          <a:stretch>
            <a:fillRect/>
          </a:stretch>
        </p:blipFill>
        <p:spPr>
          <a:xfrm>
            <a:off x="785813" y="1482328"/>
            <a:ext cx="3446859" cy="2857500"/>
          </a:xfrm>
          <a:prstGeom prst="rect">
            <a:avLst/>
          </a:prstGeom>
        </p:spPr>
      </p:pic>
      <p:sp>
        <p:nvSpPr>
          <p:cNvPr id="7" name="Text 2"/>
          <p:cNvSpPr/>
          <p:nvPr/>
        </p:nvSpPr>
        <p:spPr>
          <a:xfrm>
            <a:off x="4911328" y="1560386"/>
            <a:ext cx="3661172" cy="546240"/>
          </a:xfrm>
          <a:prstGeom prst="rect">
            <a:avLst/>
          </a:prstGeom>
          <a:noFill/>
          <a:ln/>
        </p:spPr>
        <p:txBody>
          <a:bodyPr wrap="square" lIns="0" tIns="0" rIns="0" bIns="0" rtlCol="0" anchor="t">
            <a:spAutoFit/>
          </a:bodyPr>
          <a:lstStyle/>
          <a:p>
            <a:pPr marL="0" indent="0" algn="l">
              <a:lnSpc>
                <a:spcPct val="128000"/>
              </a:lnSpc>
              <a:buNone/>
            </a:pPr>
            <a:r>
              <a:rPr lang="en-US" sz="950" dirty="0">
                <a:solidFill>
                  <a:srgbClr val="2C2C2C"/>
                </a:solidFill>
                <a:latin typeface="Montserrat" pitchFamily="34" charset="0"/>
                <a:ea typeface="Montserrat" pitchFamily="34" charset="-122"/>
                <a:cs typeface="Montserrat" pitchFamily="34" charset="-120"/>
              </a:rPr>
              <a:t>Die Highveld Bestuurstelsel transformeer daaglikse plaasaktiwiteite in strategiese voordele deur data-integriteit en operasionele sigbaarheid te verbeter.</a:t>
            </a:r>
            <a:endParaRPr lang="en-US" sz="950" dirty="0">
              <a:solidFill>
                <a:srgbClr val="2C2C2C"/>
              </a:solidFill>
            </a:endParaRPr>
          </a:p>
        </p:txBody>
      </p:sp>
      <p:sp>
        <p:nvSpPr>
          <p:cNvPr id="8" name="Text 3"/>
          <p:cNvSpPr/>
          <p:nvPr/>
        </p:nvSpPr>
        <p:spPr>
          <a:xfrm>
            <a:off x="4911328" y="2606687"/>
            <a:ext cx="1133289" cy="375047"/>
          </a:xfrm>
          <a:prstGeom prst="rect">
            <a:avLst/>
          </a:prstGeom>
          <a:solidFill>
            <a:srgbClr val="1B3022"/>
          </a:solidFill>
          <a:ln/>
        </p:spPr>
        <p:txBody>
          <a:bodyPr wrap="none" lIns="127508" tIns="127508" rIns="127508" bIns="127508" rtlCol="0" anchor="ctr">
            <a:spAutoFit/>
          </a:bodyPr>
          <a:lstStyle/>
          <a:p>
            <a:pPr marL="0" indent="0" algn="l">
              <a:buNone/>
            </a:pPr>
            <a:r>
              <a:rPr lang="en-US" sz="900" b="1" kern="0" spc="1" dirty="0">
                <a:solidFill>
                  <a:srgbClr val="D4AF37"/>
                </a:solidFill>
                <a:latin typeface="Montserrat Bold" pitchFamily="34" charset="0"/>
                <a:ea typeface="Montserrat Bold" pitchFamily="34" charset="-122"/>
                <a:cs typeface="Montserrat Bold" pitchFamily="34" charset="-120"/>
              </a:rPr>
              <a:t>FOKUSAREA</a:t>
            </a:r>
            <a:endParaRPr lang="en-US" sz="900" dirty="0"/>
          </a:p>
        </p:txBody>
      </p:sp>
      <p:sp>
        <p:nvSpPr>
          <p:cNvPr id="9" name="Text 4"/>
          <p:cNvSpPr/>
          <p:nvPr/>
        </p:nvSpPr>
        <p:spPr>
          <a:xfrm>
            <a:off x="6044617" y="2606687"/>
            <a:ext cx="2527883" cy="375047"/>
          </a:xfrm>
          <a:prstGeom prst="rect">
            <a:avLst/>
          </a:prstGeom>
          <a:solidFill>
            <a:srgbClr val="1B3022"/>
          </a:solidFill>
          <a:ln/>
        </p:spPr>
        <p:txBody>
          <a:bodyPr wrap="square" lIns="127508" tIns="127508" rIns="127508" bIns="127508" rtlCol="0" anchor="ctr">
            <a:spAutoFit/>
          </a:bodyPr>
          <a:lstStyle/>
          <a:p>
            <a:pPr marL="0" indent="0" algn="l">
              <a:buNone/>
            </a:pPr>
            <a:r>
              <a:rPr lang="en-US" sz="900" b="1" kern="0" spc="1" dirty="0">
                <a:solidFill>
                  <a:srgbClr val="D4AF37"/>
                </a:solidFill>
                <a:latin typeface="Montserrat Bold" pitchFamily="34" charset="0"/>
                <a:ea typeface="Montserrat Bold" pitchFamily="34" charset="-122"/>
                <a:cs typeface="Montserrat Bold" pitchFamily="34" charset="-120"/>
              </a:rPr>
              <a:t>BESIGHEIDSIMPAK</a:t>
            </a:r>
            <a:endParaRPr lang="en-US" sz="900" dirty="0"/>
          </a:p>
        </p:txBody>
      </p:sp>
      <p:pic>
        <p:nvPicPr>
          <p:cNvPr id="10" name="Image 2" descr="preencoded.png"/>
          <p:cNvPicPr>
            <a:picLocks noChangeAspect="1"/>
          </p:cNvPicPr>
          <p:nvPr/>
        </p:nvPicPr>
        <p:blipFill>
          <a:blip r:embed="rId5"/>
          <a:stretch>
            <a:fillRect/>
          </a:stretch>
        </p:blipFill>
        <p:spPr>
          <a:xfrm>
            <a:off x="5018484" y="3103178"/>
            <a:ext cx="114300" cy="114300"/>
          </a:xfrm>
          <a:prstGeom prst="rect">
            <a:avLst/>
          </a:prstGeom>
        </p:spPr>
      </p:pic>
      <p:sp>
        <p:nvSpPr>
          <p:cNvPr id="11" name="Text 5"/>
          <p:cNvSpPr/>
          <p:nvPr/>
        </p:nvSpPr>
        <p:spPr>
          <a:xfrm>
            <a:off x="5018484" y="3231766"/>
            <a:ext cx="676467" cy="130805"/>
          </a:xfrm>
          <a:prstGeom prst="rect">
            <a:avLst/>
          </a:prstGeom>
          <a:noFill/>
          <a:ln/>
        </p:spPr>
        <p:txBody>
          <a:bodyPr wrap="none" lIns="0" tIns="0" rIns="0" bIns="0" rtlCol="0" anchor="t">
            <a:spAutoFit/>
          </a:bodyPr>
          <a:lstStyle/>
          <a:p>
            <a:pPr marL="0" indent="0" algn="l">
              <a:buNone/>
            </a:pPr>
            <a:r>
              <a:rPr lang="en-US" sz="850" dirty="0">
                <a:solidFill>
                  <a:srgbClr val="2C2C2C"/>
                </a:solidFill>
                <a:latin typeface="Montserrat" pitchFamily="34" charset="0"/>
                <a:ea typeface="Montserrat" pitchFamily="34" charset="-122"/>
                <a:cs typeface="Montserrat" pitchFamily="34" charset="-120"/>
              </a:rPr>
              <a:t>Tydsbestuur</a:t>
            </a:r>
            <a:endParaRPr lang="en-US" sz="850" dirty="0">
              <a:solidFill>
                <a:srgbClr val="2C2C2C"/>
              </a:solidFill>
            </a:endParaRPr>
          </a:p>
        </p:txBody>
      </p:sp>
      <p:sp>
        <p:nvSpPr>
          <p:cNvPr id="12" name="Text 6"/>
          <p:cNvSpPr/>
          <p:nvPr/>
        </p:nvSpPr>
        <p:spPr>
          <a:xfrm>
            <a:off x="6044617" y="2972208"/>
            <a:ext cx="2527883" cy="519116"/>
          </a:xfrm>
          <a:prstGeom prst="rect">
            <a:avLst/>
          </a:prstGeom>
          <a:noFill/>
          <a:ln/>
        </p:spPr>
        <p:txBody>
          <a:bodyPr wrap="square" lIns="127508" tIns="127508" rIns="127508" bIns="127508" rtlCol="0" anchor="ctr">
            <a:spAutoFit/>
          </a:bodyPr>
          <a:lstStyle/>
          <a:p>
            <a:pPr marL="0" indent="0" algn="l">
              <a:buNone/>
            </a:pPr>
            <a:r>
              <a:rPr lang="en-US" sz="850" dirty="0">
                <a:solidFill>
                  <a:srgbClr val="2C2C2C"/>
                </a:solidFill>
                <a:latin typeface="Montserrat" pitchFamily="34" charset="0"/>
                <a:ea typeface="Montserrat" pitchFamily="34" charset="-122"/>
                <a:cs typeface="Montserrat" pitchFamily="34" charset="-120"/>
              </a:rPr>
              <a:t>40% vinniger voorraadopnames en rekords.</a:t>
            </a:r>
            <a:endParaRPr lang="en-US" sz="850" dirty="0">
              <a:solidFill>
                <a:srgbClr val="2C2C2C"/>
              </a:solidFill>
            </a:endParaRPr>
          </a:p>
        </p:txBody>
      </p:sp>
      <p:pic>
        <p:nvPicPr>
          <p:cNvPr id="13" name="Image 3" descr="preencoded.png"/>
          <p:cNvPicPr>
            <a:picLocks noChangeAspect="1"/>
          </p:cNvPicPr>
          <p:nvPr/>
        </p:nvPicPr>
        <p:blipFill>
          <a:blip r:embed="rId6"/>
          <a:stretch>
            <a:fillRect/>
          </a:stretch>
        </p:blipFill>
        <p:spPr>
          <a:xfrm>
            <a:off x="5018484" y="3672892"/>
            <a:ext cx="114300" cy="114300"/>
          </a:xfrm>
          <a:prstGeom prst="rect">
            <a:avLst/>
          </a:prstGeom>
        </p:spPr>
      </p:pic>
      <p:sp>
        <p:nvSpPr>
          <p:cNvPr id="14" name="Text 7"/>
          <p:cNvSpPr/>
          <p:nvPr/>
        </p:nvSpPr>
        <p:spPr>
          <a:xfrm>
            <a:off x="5204222" y="3662176"/>
            <a:ext cx="323807" cy="130805"/>
          </a:xfrm>
          <a:prstGeom prst="rect">
            <a:avLst/>
          </a:prstGeom>
          <a:noFill/>
          <a:ln/>
        </p:spPr>
        <p:txBody>
          <a:bodyPr wrap="none" lIns="0" tIns="0" rIns="0" bIns="0" rtlCol="0" anchor="t">
            <a:spAutoFit/>
          </a:bodyPr>
          <a:lstStyle/>
          <a:p>
            <a:pPr marL="0" indent="0" algn="l">
              <a:buNone/>
            </a:pPr>
            <a:r>
              <a:rPr lang="en-US" sz="850" dirty="0">
                <a:solidFill>
                  <a:srgbClr val="2C2C2C"/>
                </a:solidFill>
                <a:latin typeface="Montserrat" pitchFamily="34" charset="0"/>
                <a:ea typeface="Montserrat" pitchFamily="34" charset="-122"/>
                <a:cs typeface="Montserrat" pitchFamily="34" charset="-120"/>
              </a:rPr>
              <a:t>Risiko</a:t>
            </a:r>
            <a:endParaRPr lang="en-US" sz="850" dirty="0">
              <a:solidFill>
                <a:srgbClr val="2C2C2C"/>
              </a:solidFill>
            </a:endParaRPr>
          </a:p>
        </p:txBody>
      </p:sp>
      <p:sp>
        <p:nvSpPr>
          <p:cNvPr id="15" name="Text 8"/>
          <p:cNvSpPr/>
          <p:nvPr/>
        </p:nvSpPr>
        <p:spPr>
          <a:xfrm>
            <a:off x="6044617" y="3472271"/>
            <a:ext cx="2527883" cy="519116"/>
          </a:xfrm>
          <a:prstGeom prst="rect">
            <a:avLst/>
          </a:prstGeom>
          <a:noFill/>
          <a:ln/>
        </p:spPr>
        <p:txBody>
          <a:bodyPr wrap="square" lIns="127508" tIns="127508" rIns="127508" bIns="127508" rtlCol="0" anchor="ctr">
            <a:spAutoFit/>
          </a:bodyPr>
          <a:lstStyle/>
          <a:p>
            <a:pPr marL="0" indent="0" algn="l">
              <a:buNone/>
            </a:pPr>
            <a:r>
              <a:rPr lang="en-US" sz="850" dirty="0">
                <a:solidFill>
                  <a:srgbClr val="2C2C2C"/>
                </a:solidFill>
                <a:latin typeface="Montserrat" pitchFamily="34" charset="0"/>
                <a:ea typeface="Montserrat" pitchFamily="34" charset="-122"/>
                <a:cs typeface="Montserrat" pitchFamily="34" charset="-120"/>
              </a:rPr>
              <a:t>Vermindering in medisyne- en voerverliese.</a:t>
            </a:r>
            <a:endParaRPr lang="en-US" sz="850" dirty="0">
              <a:solidFill>
                <a:srgbClr val="2C2C2C"/>
              </a:solidFill>
            </a:endParaRPr>
          </a:p>
        </p:txBody>
      </p:sp>
      <p:pic>
        <p:nvPicPr>
          <p:cNvPr id="16" name="Image 4" descr="preencoded.png"/>
          <p:cNvPicPr>
            <a:picLocks noChangeAspect="1"/>
          </p:cNvPicPr>
          <p:nvPr/>
        </p:nvPicPr>
        <p:blipFill>
          <a:blip r:embed="rId7"/>
          <a:stretch>
            <a:fillRect/>
          </a:stretch>
        </p:blipFill>
        <p:spPr>
          <a:xfrm>
            <a:off x="5018484" y="4172955"/>
            <a:ext cx="128588" cy="114300"/>
          </a:xfrm>
          <a:prstGeom prst="rect">
            <a:avLst/>
          </a:prstGeom>
        </p:spPr>
      </p:pic>
      <p:sp>
        <p:nvSpPr>
          <p:cNvPr id="17" name="Text 9"/>
          <p:cNvSpPr/>
          <p:nvPr/>
        </p:nvSpPr>
        <p:spPr>
          <a:xfrm>
            <a:off x="5218509" y="4162239"/>
            <a:ext cx="264496" cy="130805"/>
          </a:xfrm>
          <a:prstGeom prst="rect">
            <a:avLst/>
          </a:prstGeom>
          <a:noFill/>
          <a:ln/>
        </p:spPr>
        <p:txBody>
          <a:bodyPr wrap="none" lIns="0" tIns="0" rIns="0" bIns="0" rtlCol="0" anchor="t">
            <a:spAutoFit/>
          </a:bodyPr>
          <a:lstStyle/>
          <a:p>
            <a:pPr marL="0" indent="0" algn="l">
              <a:buNone/>
            </a:pPr>
            <a:r>
              <a:rPr lang="en-US" sz="850" dirty="0">
                <a:solidFill>
                  <a:srgbClr val="2C2C2C"/>
                </a:solidFill>
                <a:latin typeface="Montserrat" pitchFamily="34" charset="0"/>
                <a:ea typeface="Montserrat" pitchFamily="34" charset="-122"/>
                <a:cs typeface="Montserrat" pitchFamily="34" charset="-120"/>
              </a:rPr>
              <a:t>Insig</a:t>
            </a:r>
            <a:endParaRPr lang="en-US" sz="850" dirty="0">
              <a:solidFill>
                <a:srgbClr val="2C2C2C"/>
              </a:solidFill>
            </a:endParaRPr>
          </a:p>
        </p:txBody>
      </p:sp>
      <p:sp>
        <p:nvSpPr>
          <p:cNvPr id="18" name="Text 10"/>
          <p:cNvSpPr/>
          <p:nvPr/>
        </p:nvSpPr>
        <p:spPr>
          <a:xfrm>
            <a:off x="6044617" y="3972333"/>
            <a:ext cx="2527883" cy="519116"/>
          </a:xfrm>
          <a:prstGeom prst="rect">
            <a:avLst/>
          </a:prstGeom>
          <a:noFill/>
          <a:ln/>
        </p:spPr>
        <p:txBody>
          <a:bodyPr wrap="square" lIns="127508" tIns="127508" rIns="127508" bIns="127508" rtlCol="0" anchor="ctr">
            <a:spAutoFit/>
          </a:bodyPr>
          <a:lstStyle/>
          <a:p>
            <a:pPr marL="0" indent="0" algn="l">
              <a:buNone/>
            </a:pPr>
            <a:r>
              <a:rPr lang="en-US" sz="850" dirty="0">
                <a:solidFill>
                  <a:srgbClr val="2C2C2C"/>
                </a:solidFill>
                <a:latin typeface="Montserrat" pitchFamily="34" charset="0"/>
                <a:ea typeface="Montserrat" pitchFamily="34" charset="-122"/>
                <a:cs typeface="Montserrat" pitchFamily="34" charset="-120"/>
              </a:rPr>
              <a:t>Intydse data vir akkurate verkope-voorspellings.</a:t>
            </a:r>
            <a:endParaRPr lang="en-US" sz="850" dirty="0">
              <a:solidFill>
                <a:srgbClr val="2C2C2C"/>
              </a:solidFill>
            </a:endParaRPr>
          </a:p>
        </p:txBody>
      </p:sp>
      <p:cxnSp>
        <p:nvCxnSpPr>
          <p:cNvPr id="20" name="Straight Connector 19">
            <a:extLst>
              <a:ext uri="{FF2B5EF4-FFF2-40B4-BE49-F238E27FC236}">
                <a16:creationId xmlns:a16="http://schemas.microsoft.com/office/drawing/2014/main" id="{80FD641E-9EDB-042B-32E2-965AD0BBAAEB}"/>
              </a:ext>
            </a:extLst>
          </p:cNvPr>
          <p:cNvCxnSpPr/>
          <p:nvPr/>
        </p:nvCxnSpPr>
        <p:spPr>
          <a:xfrm>
            <a:off x="4911328" y="2972208"/>
            <a:ext cx="3661172" cy="9526"/>
          </a:xfrm>
          <a:prstGeom prst="line">
            <a:avLst/>
          </a:prstGeom>
          <a:ln>
            <a:solidFill>
              <a:srgbClr val="D5BF7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483C19E6-AE9B-2F3E-4423-4DC2A462F4DD}"/>
              </a:ext>
            </a:extLst>
          </p:cNvPr>
          <p:cNvCxnSpPr/>
          <p:nvPr/>
        </p:nvCxnSpPr>
        <p:spPr>
          <a:xfrm>
            <a:off x="4911328" y="3472271"/>
            <a:ext cx="3661172" cy="0"/>
          </a:xfrm>
          <a:prstGeom prst="line">
            <a:avLst/>
          </a:prstGeom>
          <a:ln>
            <a:solidFill>
              <a:srgbClr val="D5BF7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0A55A01B-B4A2-6D82-7522-1C1B5B2188E0}"/>
              </a:ext>
            </a:extLst>
          </p:cNvPr>
          <p:cNvCxnSpPr/>
          <p:nvPr/>
        </p:nvCxnSpPr>
        <p:spPr>
          <a:xfrm>
            <a:off x="4911328" y="3972333"/>
            <a:ext cx="3661172" cy="0"/>
          </a:xfrm>
          <a:prstGeom prst="line">
            <a:avLst/>
          </a:prstGeom>
          <a:ln>
            <a:solidFill>
              <a:srgbClr val="D5BF7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A2E072BA-F5BD-BE2E-C661-BA73F19A2260}"/>
              </a:ext>
            </a:extLst>
          </p:cNvPr>
          <p:cNvCxnSpPr/>
          <p:nvPr/>
        </p:nvCxnSpPr>
        <p:spPr>
          <a:xfrm>
            <a:off x="4911328" y="4465127"/>
            <a:ext cx="3661172" cy="0"/>
          </a:xfrm>
          <a:prstGeom prst="line">
            <a:avLst/>
          </a:prstGeom>
          <a:ln>
            <a:solidFill>
              <a:srgbClr val="D5BF71"/>
            </a:solidFill>
          </a:ln>
        </p:spPr>
        <p:style>
          <a:lnRef idx="1">
            <a:schemeClr val="accent1"/>
          </a:lnRef>
          <a:fillRef idx="0">
            <a:schemeClr val="accent1"/>
          </a:fillRef>
          <a:effectRef idx="0">
            <a:schemeClr val="accent1"/>
          </a:effectRef>
          <a:fontRef idx="minor">
            <a:schemeClr val="tx1"/>
          </a:fontRef>
        </p:style>
      </p:cxnSp>
      <p:sp>
        <p:nvSpPr>
          <p:cNvPr id="28" name="Shape 1">
            <a:extLst>
              <a:ext uri="{FF2B5EF4-FFF2-40B4-BE49-F238E27FC236}">
                <a16:creationId xmlns:a16="http://schemas.microsoft.com/office/drawing/2014/main" id="{5CB8C406-B5FF-3AAA-0B3D-10C01CB44B60}"/>
              </a:ext>
            </a:extLst>
          </p:cNvPr>
          <p:cNvSpPr/>
          <p:nvPr/>
        </p:nvSpPr>
        <p:spPr>
          <a:xfrm>
            <a:off x="557872" y="1003473"/>
            <a:ext cx="8429625" cy="14288"/>
          </a:xfrm>
          <a:prstGeom prst="rect">
            <a:avLst/>
          </a:prstGeom>
          <a:solidFill>
            <a:srgbClr val="D4AF37"/>
          </a:solidFill>
          <a:ln/>
        </p:spPr>
        <p:txBody>
          <a:bodyPr/>
          <a:lstStyle/>
          <a:p>
            <a:endParaRPr lang="en-ZA"/>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571500" y="428625"/>
            <a:ext cx="7858125" cy="451919"/>
          </a:xfrm>
          <a:prstGeom prst="rect">
            <a:avLst/>
          </a:prstGeom>
          <a:noFill/>
          <a:ln/>
        </p:spPr>
        <p:txBody>
          <a:bodyPr wrap="square" lIns="0" tIns="0" rIns="0" bIns="127508" rtlCol="0" anchor="t">
            <a:spAutoFit/>
          </a:bodyPr>
          <a:lstStyle/>
          <a:p>
            <a:pPr marL="0" indent="0" algn="l">
              <a:buNone/>
            </a:pPr>
            <a:r>
              <a:rPr lang="en-US" sz="2100" b="1" dirty="0">
                <a:solidFill>
                  <a:srgbClr val="1B3022"/>
                </a:solidFill>
                <a:latin typeface="Montserrat Bold" pitchFamily="34" charset="0"/>
                <a:ea typeface="Montserrat Bold" pitchFamily="34" charset="-122"/>
                <a:cs typeface="Montserrat Bold" pitchFamily="34" charset="-120"/>
              </a:rPr>
              <a:t>Omvattende Voorraadbestuur (CRUD)</a:t>
            </a:r>
            <a:endParaRPr lang="en-US" sz="2100" dirty="0"/>
          </a:p>
        </p:txBody>
      </p:sp>
      <p:sp>
        <p:nvSpPr>
          <p:cNvPr id="5" name="Text 1"/>
          <p:cNvSpPr/>
          <p:nvPr/>
        </p:nvSpPr>
        <p:spPr>
          <a:xfrm>
            <a:off x="571500" y="1330523"/>
            <a:ext cx="4171950" cy="617153"/>
          </a:xfrm>
          <a:prstGeom prst="rect">
            <a:avLst/>
          </a:prstGeom>
          <a:noFill/>
          <a:ln/>
        </p:spPr>
        <p:txBody>
          <a:bodyPr wrap="square" lIns="0" tIns="0" rIns="0" bIns="0" rtlCol="0" anchor="t">
            <a:spAutoFit/>
          </a:bodyPr>
          <a:lstStyle/>
          <a:p>
            <a:pPr marL="0" indent="0" algn="l">
              <a:lnSpc>
                <a:spcPct val="128000"/>
              </a:lnSpc>
              <a:buNone/>
            </a:pPr>
            <a:r>
              <a:rPr lang="en-US" sz="950" dirty="0">
                <a:solidFill>
                  <a:srgbClr val="2C2C2C"/>
                </a:solidFill>
                <a:latin typeface="Montserrat" pitchFamily="34" charset="0"/>
                <a:ea typeface="Montserrat" pitchFamily="34" charset="-122"/>
                <a:cs typeface="Montserrat" pitchFamily="34" charset="-120"/>
              </a:rPr>
              <a:t>Die stelsel bied 'n robuuste administratiewe koppelvlak vir die volledige lewensiklus van plaasvoorraad, van ontvangs tot verkope of verbruik.</a:t>
            </a:r>
            <a:endParaRPr lang="en-US" sz="950" dirty="0"/>
          </a:p>
        </p:txBody>
      </p:sp>
      <p:sp>
        <p:nvSpPr>
          <p:cNvPr id="6" name="Shape 2"/>
          <p:cNvSpPr/>
          <p:nvPr/>
        </p:nvSpPr>
        <p:spPr>
          <a:xfrm>
            <a:off x="571500" y="2161989"/>
            <a:ext cx="4171950" cy="1821656"/>
          </a:xfrm>
          <a:prstGeom prst="rect">
            <a:avLst/>
          </a:prstGeom>
          <a:solidFill>
            <a:srgbClr val="FFFFFF"/>
          </a:solidFill>
          <a:ln/>
        </p:spPr>
        <p:txBody>
          <a:bodyPr/>
          <a:lstStyle/>
          <a:p>
            <a:endParaRPr lang="en-ZA"/>
          </a:p>
        </p:txBody>
      </p:sp>
      <p:sp>
        <p:nvSpPr>
          <p:cNvPr id="7" name="Shape 3"/>
          <p:cNvSpPr/>
          <p:nvPr/>
        </p:nvSpPr>
        <p:spPr>
          <a:xfrm>
            <a:off x="571500" y="2161989"/>
            <a:ext cx="812490" cy="375047"/>
          </a:xfrm>
          <a:prstGeom prst="rect">
            <a:avLst/>
          </a:prstGeom>
          <a:solidFill>
            <a:srgbClr val="1B3022"/>
          </a:solidFill>
          <a:ln/>
        </p:spPr>
        <p:txBody>
          <a:bodyPr/>
          <a:lstStyle/>
          <a:p>
            <a:endParaRPr lang="en-ZA"/>
          </a:p>
        </p:txBody>
      </p:sp>
      <p:sp>
        <p:nvSpPr>
          <p:cNvPr id="8" name="Shape 4"/>
          <p:cNvSpPr/>
          <p:nvPr/>
        </p:nvSpPr>
        <p:spPr>
          <a:xfrm>
            <a:off x="571500" y="2529892"/>
            <a:ext cx="812490" cy="7144"/>
          </a:xfrm>
          <a:prstGeom prst="rect">
            <a:avLst/>
          </a:prstGeom>
          <a:solidFill>
            <a:srgbClr val="EEEEEE"/>
          </a:solidFill>
          <a:ln/>
        </p:spPr>
        <p:txBody>
          <a:bodyPr/>
          <a:lstStyle/>
          <a:p>
            <a:endParaRPr lang="en-ZA"/>
          </a:p>
        </p:txBody>
      </p:sp>
      <p:sp>
        <p:nvSpPr>
          <p:cNvPr id="9" name="Text 5"/>
          <p:cNvSpPr/>
          <p:nvPr/>
        </p:nvSpPr>
        <p:spPr>
          <a:xfrm>
            <a:off x="571500" y="2161989"/>
            <a:ext cx="812490" cy="375047"/>
          </a:xfrm>
          <a:prstGeom prst="rect">
            <a:avLst/>
          </a:prstGeom>
          <a:noFill/>
          <a:ln/>
        </p:spPr>
        <p:txBody>
          <a:bodyPr wrap="none" lIns="127508" tIns="127508" rIns="127508" bIns="127508" rtlCol="0" anchor="ctr">
            <a:spAutoFit/>
          </a:bodyPr>
          <a:lstStyle/>
          <a:p>
            <a:pPr marL="0" indent="0" algn="l">
              <a:buNone/>
            </a:pPr>
            <a:r>
              <a:rPr lang="en-US" sz="900" b="1" dirty="0">
                <a:solidFill>
                  <a:srgbClr val="D4AF37"/>
                </a:solidFill>
                <a:latin typeface="Montserrat Bold" pitchFamily="34" charset="0"/>
                <a:ea typeface="Montserrat Bold" pitchFamily="34" charset="-122"/>
                <a:cs typeface="Montserrat Bold" pitchFamily="34" charset="-120"/>
              </a:rPr>
              <a:t>Operasie</a:t>
            </a:r>
            <a:endParaRPr lang="en-US" sz="900" dirty="0"/>
          </a:p>
        </p:txBody>
      </p:sp>
      <p:sp>
        <p:nvSpPr>
          <p:cNvPr id="10" name="Shape 6"/>
          <p:cNvSpPr/>
          <p:nvPr/>
        </p:nvSpPr>
        <p:spPr>
          <a:xfrm>
            <a:off x="1383990" y="2161989"/>
            <a:ext cx="3359460" cy="375047"/>
          </a:xfrm>
          <a:prstGeom prst="rect">
            <a:avLst/>
          </a:prstGeom>
          <a:solidFill>
            <a:srgbClr val="1B3022"/>
          </a:solidFill>
          <a:ln/>
        </p:spPr>
        <p:txBody>
          <a:bodyPr/>
          <a:lstStyle/>
          <a:p>
            <a:endParaRPr lang="en-ZA"/>
          </a:p>
        </p:txBody>
      </p:sp>
      <p:sp>
        <p:nvSpPr>
          <p:cNvPr id="11" name="Shape 7"/>
          <p:cNvSpPr/>
          <p:nvPr/>
        </p:nvSpPr>
        <p:spPr>
          <a:xfrm>
            <a:off x="1383990" y="2529892"/>
            <a:ext cx="3359460" cy="7144"/>
          </a:xfrm>
          <a:prstGeom prst="rect">
            <a:avLst/>
          </a:prstGeom>
          <a:solidFill>
            <a:srgbClr val="EEEEEE"/>
          </a:solidFill>
          <a:ln/>
        </p:spPr>
        <p:txBody>
          <a:bodyPr/>
          <a:lstStyle/>
          <a:p>
            <a:endParaRPr lang="en-ZA"/>
          </a:p>
        </p:txBody>
      </p:sp>
      <p:sp>
        <p:nvSpPr>
          <p:cNvPr id="12" name="Text 8"/>
          <p:cNvSpPr/>
          <p:nvPr/>
        </p:nvSpPr>
        <p:spPr>
          <a:xfrm>
            <a:off x="1383990" y="2161989"/>
            <a:ext cx="3359460" cy="375047"/>
          </a:xfrm>
          <a:prstGeom prst="rect">
            <a:avLst/>
          </a:prstGeom>
          <a:noFill/>
          <a:ln/>
        </p:spPr>
        <p:txBody>
          <a:bodyPr wrap="square" lIns="127508" tIns="127508" rIns="127508" bIns="127508" rtlCol="0" anchor="ctr">
            <a:spAutoFit/>
          </a:bodyPr>
          <a:lstStyle/>
          <a:p>
            <a:pPr marL="0" indent="0" algn="l">
              <a:buNone/>
            </a:pPr>
            <a:r>
              <a:rPr lang="en-US" sz="900" b="1" dirty="0">
                <a:solidFill>
                  <a:srgbClr val="D4AF37"/>
                </a:solidFill>
                <a:latin typeface="Montserrat Bold" pitchFamily="34" charset="0"/>
                <a:ea typeface="Montserrat Bold" pitchFamily="34" charset="-122"/>
                <a:cs typeface="Montserrat Bold" pitchFamily="34" charset="-120"/>
              </a:rPr>
              <a:t>Besigheidsfunksie</a:t>
            </a:r>
            <a:endParaRPr lang="en-US" sz="900" dirty="0"/>
          </a:p>
        </p:txBody>
      </p:sp>
      <p:sp>
        <p:nvSpPr>
          <p:cNvPr id="13" name="Text 9"/>
          <p:cNvSpPr/>
          <p:nvPr/>
        </p:nvSpPr>
        <p:spPr>
          <a:xfrm>
            <a:off x="678656" y="2640620"/>
            <a:ext cx="389334" cy="139303"/>
          </a:xfrm>
          <a:prstGeom prst="rect">
            <a:avLst/>
          </a:prstGeom>
          <a:noFill/>
          <a:ln/>
        </p:spPr>
        <p:txBody>
          <a:bodyPr wrap="none" lIns="0" tIns="0" rIns="0" bIns="0" rtlCol="0" anchor="t">
            <a:spAutoFit/>
          </a:bodyPr>
          <a:lstStyle/>
          <a:p>
            <a:pPr marL="0" indent="0" algn="l">
              <a:buNone/>
            </a:pPr>
            <a:r>
              <a:rPr lang="en-US" sz="800" b="1" dirty="0">
                <a:solidFill>
                  <a:srgbClr val="1B3022"/>
                </a:solidFill>
                <a:latin typeface="Montserrat Bold" pitchFamily="34" charset="0"/>
                <a:ea typeface="Montserrat Bold" pitchFamily="34" charset="-122"/>
                <a:cs typeface="Montserrat Bold" pitchFamily="34" charset="-120"/>
              </a:rPr>
              <a:t>Create</a:t>
            </a:r>
            <a:endParaRPr lang="en-US" sz="800" dirty="0"/>
          </a:p>
        </p:txBody>
      </p:sp>
      <p:sp>
        <p:nvSpPr>
          <p:cNvPr id="14" name="Text 10"/>
          <p:cNvSpPr/>
          <p:nvPr/>
        </p:nvSpPr>
        <p:spPr>
          <a:xfrm>
            <a:off x="1383990" y="2533464"/>
            <a:ext cx="3359460" cy="357188"/>
          </a:xfrm>
          <a:prstGeom prst="rect">
            <a:avLst/>
          </a:prstGeom>
          <a:noFill/>
          <a:ln/>
        </p:spPr>
        <p:txBody>
          <a:bodyPr wrap="square" lIns="127508" tIns="127508" rIns="127508" bIns="127508" rtlCol="0" anchor="ctr">
            <a:spAutoFit/>
          </a:bodyPr>
          <a:lstStyle/>
          <a:p>
            <a:pPr marL="0" indent="0" algn="l">
              <a:buNone/>
            </a:pPr>
            <a:r>
              <a:rPr lang="en-US" sz="850" dirty="0">
                <a:solidFill>
                  <a:srgbClr val="2C2C2C"/>
                </a:solidFill>
                <a:latin typeface="Montserrat" pitchFamily="34" charset="0"/>
                <a:ea typeface="Montserrat" pitchFamily="34" charset="-122"/>
                <a:cs typeface="Montserrat" pitchFamily="34" charset="-120"/>
              </a:rPr>
              <a:t>Registrasie van nuwe bates en voorraaditems.</a:t>
            </a:r>
            <a:endParaRPr lang="en-US" sz="850" dirty="0"/>
          </a:p>
        </p:txBody>
      </p:sp>
      <p:sp>
        <p:nvSpPr>
          <p:cNvPr id="15" name="Text 11"/>
          <p:cNvSpPr/>
          <p:nvPr/>
        </p:nvSpPr>
        <p:spPr>
          <a:xfrm>
            <a:off x="678656" y="3001380"/>
            <a:ext cx="301823" cy="139303"/>
          </a:xfrm>
          <a:prstGeom prst="rect">
            <a:avLst/>
          </a:prstGeom>
          <a:noFill/>
          <a:ln/>
        </p:spPr>
        <p:txBody>
          <a:bodyPr wrap="none" lIns="0" tIns="0" rIns="0" bIns="0" rtlCol="0" anchor="t">
            <a:spAutoFit/>
          </a:bodyPr>
          <a:lstStyle/>
          <a:p>
            <a:pPr marL="0" indent="0" algn="l">
              <a:buNone/>
            </a:pPr>
            <a:r>
              <a:rPr lang="en-US" sz="800" b="1" dirty="0">
                <a:solidFill>
                  <a:srgbClr val="1B3022"/>
                </a:solidFill>
                <a:latin typeface="Montserrat Bold" pitchFamily="34" charset="0"/>
                <a:ea typeface="Montserrat Bold" pitchFamily="34" charset="-122"/>
                <a:cs typeface="Montserrat Bold" pitchFamily="34" charset="-120"/>
              </a:rPr>
              <a:t>Read</a:t>
            </a:r>
            <a:endParaRPr lang="en-US" sz="800" dirty="0"/>
          </a:p>
        </p:txBody>
      </p:sp>
      <p:sp>
        <p:nvSpPr>
          <p:cNvPr id="16" name="Text 12"/>
          <p:cNvSpPr/>
          <p:nvPr/>
        </p:nvSpPr>
        <p:spPr>
          <a:xfrm>
            <a:off x="1383990" y="2876875"/>
            <a:ext cx="3359460" cy="388311"/>
          </a:xfrm>
          <a:prstGeom prst="rect">
            <a:avLst/>
          </a:prstGeom>
          <a:noFill/>
          <a:ln/>
        </p:spPr>
        <p:txBody>
          <a:bodyPr wrap="square" lIns="127508" tIns="127508" rIns="127508" bIns="127508" rtlCol="0" anchor="ctr">
            <a:spAutoFit/>
          </a:bodyPr>
          <a:lstStyle/>
          <a:p>
            <a:pPr marL="0" indent="0" algn="l">
              <a:buNone/>
            </a:pPr>
            <a:r>
              <a:rPr lang="en-US" sz="850" dirty="0">
                <a:solidFill>
                  <a:srgbClr val="2C2C2C"/>
                </a:solidFill>
                <a:latin typeface="Montserrat" pitchFamily="34" charset="0"/>
                <a:ea typeface="Montserrat" pitchFamily="34" charset="-122"/>
                <a:cs typeface="Montserrat" pitchFamily="34" charset="-120"/>
              </a:rPr>
              <a:t>Intydse monitering van voorraadvlakke en status.</a:t>
            </a:r>
            <a:endParaRPr lang="en-US" sz="850" dirty="0"/>
          </a:p>
        </p:txBody>
      </p:sp>
      <p:sp>
        <p:nvSpPr>
          <p:cNvPr id="17" name="Text 13"/>
          <p:cNvSpPr/>
          <p:nvPr/>
        </p:nvSpPr>
        <p:spPr>
          <a:xfrm>
            <a:off x="678656" y="3362139"/>
            <a:ext cx="435769" cy="139303"/>
          </a:xfrm>
          <a:prstGeom prst="rect">
            <a:avLst/>
          </a:prstGeom>
          <a:noFill/>
          <a:ln/>
        </p:spPr>
        <p:txBody>
          <a:bodyPr wrap="none" lIns="0" tIns="0" rIns="0" bIns="0" rtlCol="0" anchor="t">
            <a:spAutoFit/>
          </a:bodyPr>
          <a:lstStyle/>
          <a:p>
            <a:pPr marL="0" indent="0" algn="l">
              <a:buNone/>
            </a:pPr>
            <a:r>
              <a:rPr lang="en-US" sz="800" b="1" dirty="0">
                <a:solidFill>
                  <a:srgbClr val="1B3022"/>
                </a:solidFill>
                <a:latin typeface="Montserrat Bold" pitchFamily="34" charset="0"/>
                <a:ea typeface="Montserrat Bold" pitchFamily="34" charset="-122"/>
                <a:cs typeface="Montserrat Bold" pitchFamily="34" charset="-120"/>
              </a:rPr>
              <a:t>Update</a:t>
            </a:r>
            <a:endParaRPr lang="en-US" sz="800" dirty="0"/>
          </a:p>
        </p:txBody>
      </p:sp>
      <p:sp>
        <p:nvSpPr>
          <p:cNvPr id="18" name="Text 14"/>
          <p:cNvSpPr/>
          <p:nvPr/>
        </p:nvSpPr>
        <p:spPr>
          <a:xfrm>
            <a:off x="1383990" y="3251411"/>
            <a:ext cx="3359460" cy="360759"/>
          </a:xfrm>
          <a:prstGeom prst="rect">
            <a:avLst/>
          </a:prstGeom>
          <a:noFill/>
          <a:ln/>
        </p:spPr>
        <p:txBody>
          <a:bodyPr wrap="square" lIns="127508" tIns="127508" rIns="127508" bIns="127508" rtlCol="0" anchor="ctr">
            <a:spAutoFit/>
          </a:bodyPr>
          <a:lstStyle/>
          <a:p>
            <a:pPr marL="0" indent="0" algn="l">
              <a:buNone/>
            </a:pPr>
            <a:r>
              <a:rPr lang="en-US" sz="850" dirty="0">
                <a:solidFill>
                  <a:srgbClr val="2C2C2C"/>
                </a:solidFill>
                <a:latin typeface="Montserrat" pitchFamily="34" charset="0"/>
                <a:ea typeface="Montserrat" pitchFamily="34" charset="-122"/>
                <a:cs typeface="Montserrat" pitchFamily="34" charset="-120"/>
              </a:rPr>
              <a:t>Aanpassing van hoeveelhede en herbestel-punte.</a:t>
            </a:r>
            <a:endParaRPr lang="en-US" sz="850" dirty="0"/>
          </a:p>
        </p:txBody>
      </p:sp>
      <p:sp>
        <p:nvSpPr>
          <p:cNvPr id="19" name="Text 15"/>
          <p:cNvSpPr/>
          <p:nvPr/>
        </p:nvSpPr>
        <p:spPr>
          <a:xfrm>
            <a:off x="678656" y="3722898"/>
            <a:ext cx="391120" cy="139303"/>
          </a:xfrm>
          <a:prstGeom prst="rect">
            <a:avLst/>
          </a:prstGeom>
          <a:noFill/>
          <a:ln/>
        </p:spPr>
        <p:txBody>
          <a:bodyPr wrap="none" lIns="0" tIns="0" rIns="0" bIns="0" rtlCol="0" anchor="t">
            <a:spAutoFit/>
          </a:bodyPr>
          <a:lstStyle/>
          <a:p>
            <a:pPr marL="0" indent="0" algn="l">
              <a:buNone/>
            </a:pPr>
            <a:r>
              <a:rPr lang="en-US" sz="800" b="1" dirty="0">
                <a:solidFill>
                  <a:srgbClr val="1B3022"/>
                </a:solidFill>
                <a:latin typeface="Montserrat Bold" pitchFamily="34" charset="0"/>
                <a:ea typeface="Montserrat Bold" pitchFamily="34" charset="-122"/>
                <a:cs typeface="Montserrat Bold" pitchFamily="34" charset="-120"/>
              </a:rPr>
              <a:t>Delete</a:t>
            </a:r>
            <a:endParaRPr lang="en-US" sz="800" dirty="0"/>
          </a:p>
        </p:txBody>
      </p:sp>
      <p:sp>
        <p:nvSpPr>
          <p:cNvPr id="20" name="Text 16"/>
          <p:cNvSpPr/>
          <p:nvPr/>
        </p:nvSpPr>
        <p:spPr>
          <a:xfrm>
            <a:off x="1383990" y="3612170"/>
            <a:ext cx="3359460" cy="360759"/>
          </a:xfrm>
          <a:prstGeom prst="rect">
            <a:avLst/>
          </a:prstGeom>
          <a:noFill/>
          <a:ln/>
        </p:spPr>
        <p:txBody>
          <a:bodyPr wrap="square" lIns="127508" tIns="127508" rIns="127508" bIns="127508" rtlCol="0" anchor="ctr">
            <a:spAutoFit/>
          </a:bodyPr>
          <a:lstStyle/>
          <a:p>
            <a:pPr marL="0" indent="0" algn="l">
              <a:buNone/>
            </a:pPr>
            <a:r>
              <a:rPr lang="en-US" sz="850" dirty="0">
                <a:solidFill>
                  <a:srgbClr val="2C2C2C"/>
                </a:solidFill>
                <a:latin typeface="Montserrat" pitchFamily="34" charset="0"/>
                <a:ea typeface="Montserrat" pitchFamily="34" charset="-122"/>
                <a:cs typeface="Montserrat" pitchFamily="34" charset="-120"/>
              </a:rPr>
              <a:t>Veilige verwydering van uitgediende data-inskrywings.</a:t>
            </a:r>
            <a:endParaRPr lang="en-US" sz="850" dirty="0"/>
          </a:p>
        </p:txBody>
      </p:sp>
      <p:pic>
        <p:nvPicPr>
          <p:cNvPr id="21" name="Image 1" descr="preencoded.png"/>
          <p:cNvPicPr>
            <a:picLocks noChangeAspect="1"/>
          </p:cNvPicPr>
          <p:nvPr/>
        </p:nvPicPr>
        <p:blipFill>
          <a:blip r:embed="rId4"/>
          <a:stretch>
            <a:fillRect/>
          </a:stretch>
        </p:blipFill>
        <p:spPr>
          <a:xfrm>
            <a:off x="5157788" y="1259086"/>
            <a:ext cx="3214688" cy="2143125"/>
          </a:xfrm>
          <a:prstGeom prst="rect">
            <a:avLst/>
          </a:prstGeom>
        </p:spPr>
      </p:pic>
      <p:sp>
        <p:nvSpPr>
          <p:cNvPr id="22" name="Shape 17"/>
          <p:cNvSpPr/>
          <p:nvPr/>
        </p:nvSpPr>
        <p:spPr>
          <a:xfrm>
            <a:off x="5100638" y="3602236"/>
            <a:ext cx="1852017" cy="192881"/>
          </a:xfrm>
          <a:prstGeom prst="rect">
            <a:avLst/>
          </a:prstGeom>
          <a:solidFill>
            <a:srgbClr val="D4AF37"/>
          </a:solidFill>
          <a:ln/>
        </p:spPr>
        <p:txBody>
          <a:bodyPr/>
          <a:lstStyle/>
          <a:p>
            <a:endParaRPr lang="en-ZA"/>
          </a:p>
        </p:txBody>
      </p:sp>
      <p:sp>
        <p:nvSpPr>
          <p:cNvPr id="23" name="Text 18"/>
          <p:cNvSpPr/>
          <p:nvPr/>
        </p:nvSpPr>
        <p:spPr>
          <a:xfrm>
            <a:off x="5100638" y="3602236"/>
            <a:ext cx="1852017" cy="192881"/>
          </a:xfrm>
          <a:prstGeom prst="rect">
            <a:avLst/>
          </a:prstGeom>
          <a:noFill/>
          <a:ln/>
        </p:spPr>
        <p:txBody>
          <a:bodyPr wrap="square" lIns="127508" tIns="85090" rIns="0" bIns="0" rtlCol="0" anchor="t">
            <a:spAutoFit/>
          </a:bodyPr>
          <a:lstStyle/>
          <a:p>
            <a:pPr marL="0" indent="0" algn="l">
              <a:buNone/>
            </a:pPr>
            <a:r>
              <a:rPr lang="en-US" sz="700" b="1" dirty="0">
                <a:solidFill>
                  <a:srgbClr val="1B3022"/>
                </a:solidFill>
                <a:latin typeface="Montserrat Bold" pitchFamily="34" charset="0"/>
                <a:ea typeface="Montserrat Bold" pitchFamily="34" charset="-122"/>
                <a:cs typeface="Montserrat Bold" pitchFamily="34" charset="-120"/>
              </a:rPr>
              <a:t>OUTOMATIESE VOORRAAD-LOGS</a:t>
            </a:r>
            <a:endParaRPr lang="en-US" sz="700" dirty="0"/>
          </a:p>
        </p:txBody>
      </p:sp>
      <p:sp>
        <p:nvSpPr>
          <p:cNvPr id="24" name="Text 19"/>
          <p:cNvSpPr/>
          <p:nvPr/>
        </p:nvSpPr>
        <p:spPr>
          <a:xfrm>
            <a:off x="5100638" y="4038005"/>
            <a:ext cx="3328988" cy="242888"/>
          </a:xfrm>
          <a:prstGeom prst="rect">
            <a:avLst/>
          </a:prstGeom>
          <a:noFill/>
          <a:ln/>
        </p:spPr>
        <p:txBody>
          <a:bodyPr wrap="square" lIns="0" tIns="0" rIns="0" bIns="0" rtlCol="0" anchor="t">
            <a:spAutoFit/>
          </a:bodyPr>
          <a:lstStyle/>
          <a:p>
            <a:pPr marL="0" indent="0" algn="l">
              <a:buNone/>
            </a:pPr>
            <a:r>
              <a:rPr lang="en-US" sz="750" i="1" dirty="0">
                <a:solidFill>
                  <a:srgbClr val="666666"/>
                </a:solidFill>
                <a:latin typeface="Montserrat" pitchFamily="34" charset="0"/>
                <a:ea typeface="Montserrat" pitchFamily="34" charset="-122"/>
                <a:cs typeface="Montserrat" pitchFamily="34" charset="-120"/>
              </a:rPr>
              <a:t>Die stelsel verseker dat geen transaksie ongemerk verbygaan nie, wat finansiële integriteit bevorder.</a:t>
            </a:r>
            <a:endParaRPr lang="en-US" sz="750" dirty="0"/>
          </a:p>
        </p:txBody>
      </p:sp>
      <p:sp>
        <p:nvSpPr>
          <p:cNvPr id="2" name="Shape 1">
            <a:extLst>
              <a:ext uri="{FF2B5EF4-FFF2-40B4-BE49-F238E27FC236}">
                <a16:creationId xmlns:a16="http://schemas.microsoft.com/office/drawing/2014/main" id="{CCE21E2E-50F5-6D3D-FF90-B934DAD83BEC}"/>
              </a:ext>
            </a:extLst>
          </p:cNvPr>
          <p:cNvSpPr/>
          <p:nvPr/>
        </p:nvSpPr>
        <p:spPr>
          <a:xfrm>
            <a:off x="142875" y="855463"/>
            <a:ext cx="8429625" cy="14288"/>
          </a:xfrm>
          <a:prstGeom prst="rect">
            <a:avLst/>
          </a:prstGeom>
          <a:solidFill>
            <a:srgbClr val="D4AF37"/>
          </a:solidFill>
          <a:ln/>
        </p:spPr>
        <p:txBody>
          <a:bodyPr/>
          <a:lstStyle/>
          <a:p>
            <a:endParaRPr lang="en-ZA"/>
          </a:p>
        </p:txBody>
      </p:sp>
      <p:sp>
        <p:nvSpPr>
          <p:cNvPr id="25" name="Rectangle 24">
            <a:extLst>
              <a:ext uri="{FF2B5EF4-FFF2-40B4-BE49-F238E27FC236}">
                <a16:creationId xmlns:a16="http://schemas.microsoft.com/office/drawing/2014/main" id="{7A3E460C-8674-2395-E97D-E94CFAB18748}"/>
              </a:ext>
            </a:extLst>
          </p:cNvPr>
          <p:cNvSpPr/>
          <p:nvPr/>
        </p:nvSpPr>
        <p:spPr>
          <a:xfrm>
            <a:off x="0" y="0"/>
            <a:ext cx="142875" cy="5143500"/>
          </a:xfrm>
          <a:prstGeom prst="rect">
            <a:avLst/>
          </a:prstGeom>
          <a:solidFill>
            <a:srgbClr val="1B30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6" name="Rectangle 25">
            <a:extLst>
              <a:ext uri="{FF2B5EF4-FFF2-40B4-BE49-F238E27FC236}">
                <a16:creationId xmlns:a16="http://schemas.microsoft.com/office/drawing/2014/main" id="{D60BD1BA-B728-EDB6-55CA-511104677217}"/>
              </a:ext>
            </a:extLst>
          </p:cNvPr>
          <p:cNvSpPr/>
          <p:nvPr/>
        </p:nvSpPr>
        <p:spPr>
          <a:xfrm>
            <a:off x="9001125" y="0"/>
            <a:ext cx="142875" cy="5143500"/>
          </a:xfrm>
          <a:prstGeom prst="rect">
            <a:avLst/>
          </a:prstGeom>
          <a:solidFill>
            <a:srgbClr val="F9F9F9"/>
          </a:solidFill>
          <a:ln>
            <a:solidFill>
              <a:srgbClr val="F9F9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Shape 0"/>
          <p:cNvSpPr/>
          <p:nvPr/>
        </p:nvSpPr>
        <p:spPr>
          <a:xfrm>
            <a:off x="571500" y="0"/>
            <a:ext cx="7858125" cy="951905"/>
          </a:xfrm>
          <a:prstGeom prst="rect">
            <a:avLst/>
          </a:prstGeom>
          <a:solidFill>
            <a:srgbClr val="000000">
              <a:alpha val="0"/>
            </a:srgbClr>
          </a:solidFill>
          <a:ln/>
        </p:spPr>
        <p:txBody>
          <a:bodyPr/>
          <a:lstStyle/>
          <a:p>
            <a:endParaRPr lang="af-ZA" noProof="0" dirty="0"/>
          </a:p>
        </p:txBody>
      </p:sp>
      <p:sp>
        <p:nvSpPr>
          <p:cNvPr id="5" name="Shape 1"/>
          <p:cNvSpPr/>
          <p:nvPr/>
        </p:nvSpPr>
        <p:spPr>
          <a:xfrm>
            <a:off x="1143000" y="817958"/>
            <a:ext cx="7858125" cy="14288"/>
          </a:xfrm>
          <a:prstGeom prst="rect">
            <a:avLst/>
          </a:prstGeom>
          <a:solidFill>
            <a:srgbClr val="D4AF37"/>
          </a:solidFill>
          <a:ln/>
        </p:spPr>
        <p:txBody>
          <a:bodyPr/>
          <a:lstStyle/>
          <a:p>
            <a:endParaRPr lang="af-ZA" noProof="0" dirty="0"/>
          </a:p>
        </p:txBody>
      </p:sp>
      <p:sp>
        <p:nvSpPr>
          <p:cNvPr id="6" name="Text 2"/>
          <p:cNvSpPr/>
          <p:nvPr/>
        </p:nvSpPr>
        <p:spPr>
          <a:xfrm>
            <a:off x="1143000" y="428625"/>
            <a:ext cx="7286625" cy="366117"/>
          </a:xfrm>
          <a:prstGeom prst="rect">
            <a:avLst/>
          </a:prstGeom>
          <a:noFill/>
          <a:ln/>
        </p:spPr>
        <p:txBody>
          <a:bodyPr wrap="square" lIns="0" tIns="0" rIns="0" bIns="0" rtlCol="0" anchor="t">
            <a:spAutoFit/>
          </a:bodyPr>
          <a:lstStyle/>
          <a:p>
            <a:pPr marL="0" indent="0" algn="r">
              <a:buNone/>
            </a:pPr>
            <a:r>
              <a:rPr lang="af-ZA" sz="2100" b="1" noProof="0" dirty="0">
                <a:solidFill>
                  <a:srgbClr val="1B3022"/>
                </a:solidFill>
                <a:latin typeface="Montserrat Bold" pitchFamily="34" charset="0"/>
                <a:ea typeface="Montserrat Bold" pitchFamily="34" charset="-122"/>
                <a:cs typeface="Montserrat Bold" pitchFamily="34" charset="-120"/>
              </a:rPr>
              <a:t>Gevorderde Databasis Argitektuur</a:t>
            </a:r>
            <a:endParaRPr lang="af-ZA" sz="2100" noProof="0" dirty="0"/>
          </a:p>
        </p:txBody>
      </p:sp>
      <p:sp>
        <p:nvSpPr>
          <p:cNvPr id="7" name="Shape 3"/>
          <p:cNvSpPr/>
          <p:nvPr/>
        </p:nvSpPr>
        <p:spPr>
          <a:xfrm>
            <a:off x="571500" y="1080492"/>
            <a:ext cx="4611988" cy="2886075"/>
          </a:xfrm>
          <a:prstGeom prst="rect">
            <a:avLst/>
          </a:prstGeom>
          <a:solidFill>
            <a:srgbClr val="FFFFFF"/>
          </a:solidFill>
          <a:ln w="18288">
            <a:solidFill>
              <a:srgbClr val="1B3022"/>
            </a:solidFill>
            <a:prstDash val="solid"/>
          </a:ln>
        </p:spPr>
        <p:txBody>
          <a:bodyPr/>
          <a:lstStyle/>
          <a:p>
            <a:endParaRPr lang="af-ZA" noProof="0" dirty="0"/>
          </a:p>
        </p:txBody>
      </p:sp>
      <p:sp>
        <p:nvSpPr>
          <p:cNvPr id="9" name="Text 4"/>
          <p:cNvSpPr/>
          <p:nvPr/>
        </p:nvSpPr>
        <p:spPr>
          <a:xfrm>
            <a:off x="5354938" y="1266230"/>
            <a:ext cx="3074687" cy="226814"/>
          </a:xfrm>
          <a:prstGeom prst="rect">
            <a:avLst/>
          </a:prstGeom>
          <a:noFill/>
          <a:ln/>
        </p:spPr>
        <p:txBody>
          <a:bodyPr wrap="square" lIns="127508" tIns="0" rIns="0" bIns="0" rtlCol="0" anchor="t">
            <a:spAutoFit/>
          </a:bodyPr>
          <a:lstStyle/>
          <a:p>
            <a:pPr marL="0" indent="0" algn="l">
              <a:buNone/>
            </a:pPr>
            <a:r>
              <a:rPr lang="af-ZA" sz="1300" b="1" noProof="0" dirty="0">
                <a:solidFill>
                  <a:srgbClr val="1B3022"/>
                </a:solidFill>
                <a:latin typeface="Montserrat Bold" pitchFamily="34" charset="0"/>
                <a:ea typeface="Montserrat Bold" pitchFamily="34" charset="-122"/>
                <a:cs typeface="Montserrat Bold" pitchFamily="34" charset="-120"/>
              </a:rPr>
              <a:t>Relasionele Integriteit</a:t>
            </a:r>
            <a:endParaRPr lang="af-ZA" sz="1300" noProof="0" dirty="0"/>
          </a:p>
        </p:txBody>
      </p:sp>
      <p:sp>
        <p:nvSpPr>
          <p:cNvPr id="10" name="Text 5"/>
          <p:cNvSpPr/>
          <p:nvPr/>
        </p:nvSpPr>
        <p:spPr>
          <a:xfrm>
            <a:off x="5354938" y="1764506"/>
            <a:ext cx="3074687" cy="548590"/>
          </a:xfrm>
          <a:prstGeom prst="rect">
            <a:avLst/>
          </a:prstGeom>
          <a:noFill/>
          <a:ln/>
        </p:spPr>
        <p:txBody>
          <a:bodyPr wrap="square" lIns="0" tIns="0" rIns="0" bIns="0" rtlCol="0" anchor="t">
            <a:spAutoFit/>
          </a:bodyPr>
          <a:lstStyle/>
          <a:p>
            <a:pPr marL="0" indent="0" algn="l">
              <a:lnSpc>
                <a:spcPct val="128000"/>
              </a:lnSpc>
              <a:buNone/>
            </a:pPr>
            <a:r>
              <a:rPr lang="af-ZA" sz="850" noProof="0" dirty="0">
                <a:solidFill>
                  <a:srgbClr val="555555"/>
                </a:solidFill>
                <a:latin typeface="Montserrat" pitchFamily="34" charset="0"/>
                <a:ea typeface="Montserrat" pitchFamily="34" charset="-122"/>
                <a:cs typeface="Montserrat" pitchFamily="34" charset="-120"/>
              </a:rPr>
              <a:t>Die stelsel is gebou op 'n robuuste relasionele model wat verseker dat data tussen voorraad, gebruikers en bestellings altyd gesinchroniseer en akkuraat bly.</a:t>
            </a:r>
            <a:endParaRPr lang="af-ZA" sz="850" noProof="0" dirty="0"/>
          </a:p>
        </p:txBody>
      </p:sp>
      <p:sp>
        <p:nvSpPr>
          <p:cNvPr id="11" name="Shape 6"/>
          <p:cNvSpPr/>
          <p:nvPr/>
        </p:nvSpPr>
        <p:spPr>
          <a:xfrm>
            <a:off x="5354938" y="2441684"/>
            <a:ext cx="1055126" cy="239316"/>
          </a:xfrm>
          <a:prstGeom prst="rect">
            <a:avLst/>
          </a:prstGeom>
          <a:solidFill>
            <a:srgbClr val="1B3022"/>
          </a:solidFill>
          <a:ln/>
        </p:spPr>
        <p:txBody>
          <a:bodyPr/>
          <a:lstStyle/>
          <a:p>
            <a:endParaRPr lang="af-ZA" noProof="0" dirty="0"/>
          </a:p>
        </p:txBody>
      </p:sp>
      <p:sp>
        <p:nvSpPr>
          <p:cNvPr id="12" name="Shape 7"/>
          <p:cNvSpPr/>
          <p:nvPr/>
        </p:nvSpPr>
        <p:spPr>
          <a:xfrm>
            <a:off x="5354938" y="2673855"/>
            <a:ext cx="1055126" cy="7144"/>
          </a:xfrm>
          <a:prstGeom prst="rect">
            <a:avLst/>
          </a:prstGeom>
          <a:solidFill>
            <a:srgbClr val="D4AF37"/>
          </a:solidFill>
          <a:ln/>
        </p:spPr>
        <p:txBody>
          <a:bodyPr/>
          <a:lstStyle/>
          <a:p>
            <a:endParaRPr lang="af-ZA" noProof="0" dirty="0"/>
          </a:p>
        </p:txBody>
      </p:sp>
      <p:sp>
        <p:nvSpPr>
          <p:cNvPr id="13" name="Text 8"/>
          <p:cNvSpPr/>
          <p:nvPr/>
        </p:nvSpPr>
        <p:spPr>
          <a:xfrm>
            <a:off x="5354938" y="2441684"/>
            <a:ext cx="1055126" cy="239316"/>
          </a:xfrm>
          <a:prstGeom prst="rect">
            <a:avLst/>
          </a:prstGeom>
          <a:noFill/>
          <a:ln/>
        </p:spPr>
        <p:txBody>
          <a:bodyPr wrap="none" lIns="68072" tIns="68072" rIns="68072" bIns="68072" rtlCol="0" anchor="ctr">
            <a:spAutoFit/>
          </a:bodyPr>
          <a:lstStyle/>
          <a:p>
            <a:pPr marL="0" indent="0" algn="l">
              <a:buNone/>
            </a:pPr>
            <a:r>
              <a:rPr lang="af-ZA" sz="700" b="1" noProof="0" dirty="0">
                <a:solidFill>
                  <a:srgbClr val="F9F9F9"/>
                </a:solidFill>
                <a:latin typeface="Montserrat Bold" pitchFamily="34" charset="0"/>
                <a:ea typeface="Montserrat Bold" pitchFamily="34" charset="-122"/>
                <a:cs typeface="Montserrat Bold" pitchFamily="34" charset="-120"/>
              </a:rPr>
              <a:t>Entiteit</a:t>
            </a:r>
            <a:endParaRPr lang="af-ZA" sz="700" noProof="0" dirty="0"/>
          </a:p>
        </p:txBody>
      </p:sp>
      <p:sp>
        <p:nvSpPr>
          <p:cNvPr id="14" name="Shape 9"/>
          <p:cNvSpPr/>
          <p:nvPr/>
        </p:nvSpPr>
        <p:spPr>
          <a:xfrm>
            <a:off x="6410065" y="2441684"/>
            <a:ext cx="2019560" cy="239316"/>
          </a:xfrm>
          <a:prstGeom prst="rect">
            <a:avLst/>
          </a:prstGeom>
          <a:solidFill>
            <a:srgbClr val="1B3022"/>
          </a:solidFill>
          <a:ln/>
        </p:spPr>
        <p:txBody>
          <a:bodyPr/>
          <a:lstStyle/>
          <a:p>
            <a:endParaRPr lang="af-ZA" noProof="0" dirty="0"/>
          </a:p>
        </p:txBody>
      </p:sp>
      <p:sp>
        <p:nvSpPr>
          <p:cNvPr id="15" name="Shape 10"/>
          <p:cNvSpPr/>
          <p:nvPr/>
        </p:nvSpPr>
        <p:spPr>
          <a:xfrm>
            <a:off x="6410065" y="2673855"/>
            <a:ext cx="2019560" cy="7144"/>
          </a:xfrm>
          <a:prstGeom prst="rect">
            <a:avLst/>
          </a:prstGeom>
          <a:solidFill>
            <a:srgbClr val="D4AF37"/>
          </a:solidFill>
          <a:ln/>
        </p:spPr>
        <p:txBody>
          <a:bodyPr/>
          <a:lstStyle/>
          <a:p>
            <a:endParaRPr lang="af-ZA" noProof="0" dirty="0"/>
          </a:p>
        </p:txBody>
      </p:sp>
      <p:sp>
        <p:nvSpPr>
          <p:cNvPr id="16" name="Text 11"/>
          <p:cNvSpPr/>
          <p:nvPr/>
        </p:nvSpPr>
        <p:spPr>
          <a:xfrm>
            <a:off x="6410065" y="2441684"/>
            <a:ext cx="2019560" cy="239316"/>
          </a:xfrm>
          <a:prstGeom prst="rect">
            <a:avLst/>
          </a:prstGeom>
          <a:noFill/>
          <a:ln/>
        </p:spPr>
        <p:txBody>
          <a:bodyPr wrap="square" lIns="68072" tIns="68072" rIns="68072" bIns="68072" rtlCol="0" anchor="ctr">
            <a:spAutoFit/>
          </a:bodyPr>
          <a:lstStyle/>
          <a:p>
            <a:pPr marL="0" indent="0" algn="l">
              <a:buNone/>
            </a:pPr>
            <a:r>
              <a:rPr lang="af-ZA" sz="700" b="1" noProof="0" dirty="0">
                <a:solidFill>
                  <a:srgbClr val="F9F9F9"/>
                </a:solidFill>
                <a:latin typeface="Montserrat Bold" pitchFamily="34" charset="0"/>
                <a:ea typeface="Montserrat Bold" pitchFamily="34" charset="-122"/>
                <a:cs typeface="Montserrat Bold" pitchFamily="34" charset="-120"/>
              </a:rPr>
              <a:t>Beskrywing</a:t>
            </a:r>
            <a:endParaRPr lang="af-ZA" sz="700" noProof="0" dirty="0"/>
          </a:p>
        </p:txBody>
      </p:sp>
      <p:sp>
        <p:nvSpPr>
          <p:cNvPr id="17" name="Text 12"/>
          <p:cNvSpPr/>
          <p:nvPr/>
        </p:nvSpPr>
        <p:spPr>
          <a:xfrm>
            <a:off x="5412088" y="2734577"/>
            <a:ext cx="478631" cy="121444"/>
          </a:xfrm>
          <a:prstGeom prst="rect">
            <a:avLst/>
          </a:prstGeom>
          <a:noFill/>
          <a:ln/>
        </p:spPr>
        <p:txBody>
          <a:bodyPr wrap="none" lIns="0" tIns="0" rIns="0" bIns="0" rtlCol="0" anchor="t">
            <a:spAutoFit/>
          </a:bodyPr>
          <a:lstStyle/>
          <a:p>
            <a:pPr marL="0" indent="0" algn="l">
              <a:buNone/>
            </a:pPr>
            <a:r>
              <a:rPr lang="af-ZA" sz="700" b="1" noProof="0" dirty="0">
                <a:solidFill>
                  <a:srgbClr val="2C2C2C"/>
                </a:solidFill>
                <a:latin typeface="Montserrat Bold" pitchFamily="34" charset="0"/>
                <a:ea typeface="Montserrat Bold" pitchFamily="34" charset="-122"/>
                <a:cs typeface="Montserrat Bold" pitchFamily="34" charset="-120"/>
              </a:rPr>
              <a:t>Voorraad</a:t>
            </a:r>
            <a:endParaRPr lang="af-ZA" sz="700" noProof="0" dirty="0"/>
          </a:p>
        </p:txBody>
      </p:sp>
      <p:sp>
        <p:nvSpPr>
          <p:cNvPr id="18" name="Text 13"/>
          <p:cNvSpPr/>
          <p:nvPr/>
        </p:nvSpPr>
        <p:spPr>
          <a:xfrm>
            <a:off x="6410065" y="2677427"/>
            <a:ext cx="2019560" cy="239316"/>
          </a:xfrm>
          <a:prstGeom prst="rect">
            <a:avLst/>
          </a:prstGeom>
          <a:noFill/>
          <a:ln/>
        </p:spPr>
        <p:txBody>
          <a:bodyPr wrap="square" lIns="68072" tIns="68072" rIns="68072" bIns="68072" rtlCol="0" anchor="ctr">
            <a:spAutoFit/>
          </a:bodyPr>
          <a:lstStyle/>
          <a:p>
            <a:pPr marL="0" indent="0" algn="l">
              <a:buNone/>
            </a:pPr>
            <a:r>
              <a:rPr lang="af-ZA" sz="750" noProof="0" dirty="0">
                <a:solidFill>
                  <a:srgbClr val="2C2C2C"/>
                </a:solidFill>
                <a:latin typeface="Montserrat" pitchFamily="34" charset="0"/>
                <a:ea typeface="Montserrat" pitchFamily="34" charset="-122"/>
                <a:cs typeface="Montserrat" pitchFamily="34" charset="-120"/>
              </a:rPr>
              <a:t>Sentraal tot alle operasies</a:t>
            </a:r>
            <a:endParaRPr lang="af-ZA" sz="750" noProof="0" dirty="0"/>
          </a:p>
        </p:txBody>
      </p:sp>
      <p:sp>
        <p:nvSpPr>
          <p:cNvPr id="19" name="Text 14"/>
          <p:cNvSpPr/>
          <p:nvPr/>
        </p:nvSpPr>
        <p:spPr>
          <a:xfrm>
            <a:off x="5412088" y="2977465"/>
            <a:ext cx="612577" cy="121444"/>
          </a:xfrm>
          <a:prstGeom prst="rect">
            <a:avLst/>
          </a:prstGeom>
          <a:noFill/>
          <a:ln/>
        </p:spPr>
        <p:txBody>
          <a:bodyPr wrap="none" lIns="0" tIns="0" rIns="0" bIns="0" rtlCol="0" anchor="t">
            <a:spAutoFit/>
          </a:bodyPr>
          <a:lstStyle/>
          <a:p>
            <a:pPr marL="0" indent="0" algn="l">
              <a:buNone/>
            </a:pPr>
            <a:r>
              <a:rPr lang="af-ZA" sz="700" b="1" noProof="0" dirty="0">
                <a:solidFill>
                  <a:srgbClr val="2C2C2C"/>
                </a:solidFill>
                <a:latin typeface="Montserrat Bold" pitchFamily="34" charset="0"/>
                <a:ea typeface="Montserrat Bold" pitchFamily="34" charset="-122"/>
                <a:cs typeface="Montserrat Bold" pitchFamily="34" charset="-120"/>
              </a:rPr>
              <a:t>Transaksies</a:t>
            </a:r>
            <a:endParaRPr lang="af-ZA" sz="700" noProof="0" dirty="0"/>
          </a:p>
        </p:txBody>
      </p:sp>
      <p:sp>
        <p:nvSpPr>
          <p:cNvPr id="20" name="Text 15"/>
          <p:cNvSpPr/>
          <p:nvPr/>
        </p:nvSpPr>
        <p:spPr>
          <a:xfrm>
            <a:off x="6410065" y="2916743"/>
            <a:ext cx="2019560" cy="242888"/>
          </a:xfrm>
          <a:prstGeom prst="rect">
            <a:avLst/>
          </a:prstGeom>
          <a:noFill/>
          <a:ln/>
        </p:spPr>
        <p:txBody>
          <a:bodyPr wrap="square" lIns="68072" tIns="68072" rIns="68072" bIns="68072" rtlCol="0" anchor="ctr">
            <a:spAutoFit/>
          </a:bodyPr>
          <a:lstStyle/>
          <a:p>
            <a:pPr marL="0" indent="0" algn="l">
              <a:buNone/>
            </a:pPr>
            <a:r>
              <a:rPr lang="af-ZA" sz="750" noProof="0" dirty="0">
                <a:solidFill>
                  <a:srgbClr val="2C2C2C"/>
                </a:solidFill>
                <a:latin typeface="Montserrat" pitchFamily="34" charset="0"/>
                <a:ea typeface="Montserrat" pitchFamily="34" charset="-122"/>
                <a:cs typeface="Montserrat" pitchFamily="34" charset="-120"/>
              </a:rPr>
              <a:t>Volledige oudit-spoor</a:t>
            </a:r>
            <a:endParaRPr lang="af-ZA" sz="750" noProof="0" dirty="0"/>
          </a:p>
        </p:txBody>
      </p:sp>
      <p:sp>
        <p:nvSpPr>
          <p:cNvPr id="21" name="Text 16"/>
          <p:cNvSpPr/>
          <p:nvPr/>
        </p:nvSpPr>
        <p:spPr>
          <a:xfrm>
            <a:off x="5412088" y="3220352"/>
            <a:ext cx="573286" cy="121444"/>
          </a:xfrm>
          <a:prstGeom prst="rect">
            <a:avLst/>
          </a:prstGeom>
          <a:noFill/>
          <a:ln/>
        </p:spPr>
        <p:txBody>
          <a:bodyPr wrap="none" lIns="0" tIns="0" rIns="0" bIns="0" rtlCol="0" anchor="t">
            <a:spAutoFit/>
          </a:bodyPr>
          <a:lstStyle/>
          <a:p>
            <a:pPr marL="0" indent="0" algn="l">
              <a:buNone/>
            </a:pPr>
            <a:r>
              <a:rPr lang="af-ZA" sz="700" b="1" noProof="0" dirty="0">
                <a:solidFill>
                  <a:srgbClr val="2C2C2C"/>
                </a:solidFill>
                <a:latin typeface="Montserrat Bold" pitchFamily="34" charset="0"/>
                <a:ea typeface="Montserrat Bold" pitchFamily="34" charset="-122"/>
                <a:cs typeface="Montserrat Bold" pitchFamily="34" charset="-120"/>
              </a:rPr>
              <a:t>Gebruikers</a:t>
            </a:r>
            <a:endParaRPr lang="af-ZA" sz="700" noProof="0" dirty="0"/>
          </a:p>
        </p:txBody>
      </p:sp>
      <p:sp>
        <p:nvSpPr>
          <p:cNvPr id="22" name="Text 17"/>
          <p:cNvSpPr/>
          <p:nvPr/>
        </p:nvSpPr>
        <p:spPr>
          <a:xfrm>
            <a:off x="6410065" y="3159630"/>
            <a:ext cx="2019560" cy="242888"/>
          </a:xfrm>
          <a:prstGeom prst="rect">
            <a:avLst/>
          </a:prstGeom>
          <a:noFill/>
          <a:ln/>
        </p:spPr>
        <p:txBody>
          <a:bodyPr wrap="square" lIns="68072" tIns="68072" rIns="68072" bIns="68072" rtlCol="0" anchor="ctr">
            <a:spAutoFit/>
          </a:bodyPr>
          <a:lstStyle/>
          <a:p>
            <a:pPr marL="0" indent="0" algn="l">
              <a:buNone/>
            </a:pPr>
            <a:r>
              <a:rPr lang="af-ZA" sz="750" noProof="0" dirty="0">
                <a:solidFill>
                  <a:srgbClr val="2C2C2C"/>
                </a:solidFill>
                <a:latin typeface="Montserrat" pitchFamily="34" charset="0"/>
                <a:ea typeface="Montserrat" pitchFamily="34" charset="-122"/>
                <a:cs typeface="Montserrat" pitchFamily="34" charset="-120"/>
              </a:rPr>
              <a:t>Veilige profielbestuur</a:t>
            </a:r>
            <a:endParaRPr lang="af-ZA" sz="750" noProof="0" dirty="0"/>
          </a:p>
        </p:txBody>
      </p:sp>
      <p:sp>
        <p:nvSpPr>
          <p:cNvPr id="23" name="Text 18"/>
          <p:cNvSpPr/>
          <p:nvPr/>
        </p:nvSpPr>
        <p:spPr>
          <a:xfrm>
            <a:off x="5412088" y="3463240"/>
            <a:ext cx="580430" cy="121444"/>
          </a:xfrm>
          <a:prstGeom prst="rect">
            <a:avLst/>
          </a:prstGeom>
          <a:noFill/>
          <a:ln/>
        </p:spPr>
        <p:txBody>
          <a:bodyPr wrap="none" lIns="0" tIns="0" rIns="0" bIns="0" rtlCol="0" anchor="t">
            <a:spAutoFit/>
          </a:bodyPr>
          <a:lstStyle/>
          <a:p>
            <a:pPr marL="0" indent="0" algn="l">
              <a:buNone/>
            </a:pPr>
            <a:r>
              <a:rPr lang="af-ZA" sz="700" b="1" noProof="0" dirty="0">
                <a:solidFill>
                  <a:srgbClr val="2C2C2C"/>
                </a:solidFill>
                <a:latin typeface="Montserrat Bold" pitchFamily="34" charset="0"/>
                <a:ea typeface="Montserrat Bold" pitchFamily="34" charset="-122"/>
                <a:cs typeface="Montserrat Bold" pitchFamily="34" charset="-120"/>
              </a:rPr>
              <a:t>Bestellings</a:t>
            </a:r>
            <a:endParaRPr lang="af-ZA" sz="700" noProof="0" dirty="0"/>
          </a:p>
        </p:txBody>
      </p:sp>
      <p:sp>
        <p:nvSpPr>
          <p:cNvPr id="24" name="Text 19"/>
          <p:cNvSpPr/>
          <p:nvPr/>
        </p:nvSpPr>
        <p:spPr>
          <a:xfrm>
            <a:off x="6410065" y="3402518"/>
            <a:ext cx="2019560" cy="242888"/>
          </a:xfrm>
          <a:prstGeom prst="rect">
            <a:avLst/>
          </a:prstGeom>
          <a:noFill/>
          <a:ln/>
        </p:spPr>
        <p:txBody>
          <a:bodyPr wrap="square" lIns="68072" tIns="68072" rIns="68072" bIns="68072" rtlCol="0" anchor="ctr">
            <a:spAutoFit/>
          </a:bodyPr>
          <a:lstStyle/>
          <a:p>
            <a:pPr marL="0" indent="0" algn="l">
              <a:buNone/>
            </a:pPr>
            <a:r>
              <a:rPr lang="af-ZA" sz="750" noProof="0" dirty="0">
                <a:solidFill>
                  <a:srgbClr val="2C2C2C"/>
                </a:solidFill>
                <a:latin typeface="Montserrat" pitchFamily="34" charset="0"/>
                <a:ea typeface="Montserrat" pitchFamily="34" charset="-122"/>
                <a:cs typeface="Montserrat" pitchFamily="34" charset="-120"/>
              </a:rPr>
              <a:t>Verkope en logistiek</a:t>
            </a:r>
            <a:endParaRPr lang="af-ZA" sz="750" noProof="0" dirty="0"/>
          </a:p>
        </p:txBody>
      </p:sp>
      <p:sp>
        <p:nvSpPr>
          <p:cNvPr id="25" name="Text 20"/>
          <p:cNvSpPr/>
          <p:nvPr/>
        </p:nvSpPr>
        <p:spPr>
          <a:xfrm>
            <a:off x="5354938" y="3734702"/>
            <a:ext cx="3074687" cy="408589"/>
          </a:xfrm>
          <a:prstGeom prst="rect">
            <a:avLst/>
          </a:prstGeom>
          <a:noFill/>
          <a:ln/>
        </p:spPr>
        <p:txBody>
          <a:bodyPr wrap="square" lIns="0" tIns="51054" rIns="0" bIns="0" rtlCol="0" anchor="t">
            <a:spAutoFit/>
          </a:bodyPr>
          <a:lstStyle/>
          <a:p>
            <a:pPr marL="0" indent="0" algn="l">
              <a:lnSpc>
                <a:spcPct val="128000"/>
              </a:lnSpc>
              <a:buNone/>
            </a:pPr>
            <a:r>
              <a:rPr lang="af-ZA" sz="800" b="1" noProof="0" dirty="0">
                <a:solidFill>
                  <a:srgbClr val="1B3022"/>
                </a:solidFill>
                <a:latin typeface="Montserrat Bold" pitchFamily="34" charset="0"/>
                <a:ea typeface="Montserrat Bold" pitchFamily="34" charset="-122"/>
                <a:cs typeface="Montserrat Bold" pitchFamily="34" charset="-120"/>
              </a:rPr>
              <a:t>Tegnologie: LocalStorage JSON-stelsel vir onmiddellike data-retensie.</a:t>
            </a:r>
            <a:endParaRPr lang="af-ZA" sz="800" noProof="0" dirty="0"/>
          </a:p>
        </p:txBody>
      </p:sp>
      <p:grpSp>
        <p:nvGrpSpPr>
          <p:cNvPr id="8" name="Group 7">
            <a:extLst>
              <a:ext uri="{FF2B5EF4-FFF2-40B4-BE49-F238E27FC236}">
                <a16:creationId xmlns:a16="http://schemas.microsoft.com/office/drawing/2014/main" id="{937B8B89-59AF-0E96-EBF5-A50EB3F495B7}"/>
              </a:ext>
            </a:extLst>
          </p:cNvPr>
          <p:cNvGrpSpPr/>
          <p:nvPr/>
        </p:nvGrpSpPr>
        <p:grpSpPr>
          <a:xfrm>
            <a:off x="571500" y="1080492"/>
            <a:ext cx="4611988" cy="2886075"/>
            <a:chOff x="571500" y="1080492"/>
            <a:chExt cx="4611988" cy="2886075"/>
          </a:xfrm>
        </p:grpSpPr>
        <p:sp>
          <p:nvSpPr>
            <p:cNvPr id="27" name="Rectangle 26">
              <a:extLst>
                <a:ext uri="{FF2B5EF4-FFF2-40B4-BE49-F238E27FC236}">
                  <a16:creationId xmlns:a16="http://schemas.microsoft.com/office/drawing/2014/main" id="{916E995D-A044-E9B8-92DA-567347BC4202}"/>
                </a:ext>
              </a:extLst>
            </p:cNvPr>
            <p:cNvSpPr/>
            <p:nvPr/>
          </p:nvSpPr>
          <p:spPr>
            <a:xfrm>
              <a:off x="571500" y="1080492"/>
              <a:ext cx="4611988" cy="2886075"/>
            </a:xfrm>
            <a:prstGeom prst="rect">
              <a:avLst/>
            </a:prstGeom>
            <a:solidFill>
              <a:srgbClr val="2D4D35"/>
            </a:solidFill>
            <a:ln w="28575">
              <a:solidFill>
                <a:srgbClr val="1B302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af-ZA" noProof="0" dirty="0"/>
            </a:p>
          </p:txBody>
        </p:sp>
        <p:grpSp>
          <p:nvGrpSpPr>
            <p:cNvPr id="2" name="Group 1">
              <a:extLst>
                <a:ext uri="{FF2B5EF4-FFF2-40B4-BE49-F238E27FC236}">
                  <a16:creationId xmlns:a16="http://schemas.microsoft.com/office/drawing/2014/main" id="{F4D58214-F89F-2F5D-8756-7E41B6C6580E}"/>
                </a:ext>
              </a:extLst>
            </p:cNvPr>
            <p:cNvGrpSpPr>
              <a:grpSpLocks noChangeAspect="1"/>
            </p:cNvGrpSpPr>
            <p:nvPr/>
          </p:nvGrpSpPr>
          <p:grpSpPr>
            <a:xfrm>
              <a:off x="663494" y="1228960"/>
              <a:ext cx="4428000" cy="2589300"/>
              <a:chOff x="742334" y="1313583"/>
              <a:chExt cx="4267620" cy="2495517"/>
            </a:xfrm>
          </p:grpSpPr>
          <p:pic>
            <p:nvPicPr>
              <p:cNvPr id="31" name="Picture 30">
                <a:extLst>
                  <a:ext uri="{FF2B5EF4-FFF2-40B4-BE49-F238E27FC236}">
                    <a16:creationId xmlns:a16="http://schemas.microsoft.com/office/drawing/2014/main" id="{C56CD78B-6B15-B355-C11B-F5E5FC90BD9C}"/>
                  </a:ext>
                </a:extLst>
              </p:cNvPr>
              <p:cNvPicPr>
                <a:picLocks noChangeAspect="1"/>
              </p:cNvPicPr>
              <p:nvPr/>
            </p:nvPicPr>
            <p:blipFill>
              <a:blip r:embed="rId4"/>
              <a:srcRect/>
              <a:stretch/>
            </p:blipFill>
            <p:spPr>
              <a:xfrm>
                <a:off x="742334" y="1313583"/>
                <a:ext cx="4267620" cy="2495517"/>
              </a:xfrm>
              <a:prstGeom prst="rect">
                <a:avLst/>
              </a:prstGeom>
            </p:spPr>
          </p:pic>
          <p:sp>
            <p:nvSpPr>
              <p:cNvPr id="32" name="Rectangle 31">
                <a:extLst>
                  <a:ext uri="{FF2B5EF4-FFF2-40B4-BE49-F238E27FC236}">
                    <a16:creationId xmlns:a16="http://schemas.microsoft.com/office/drawing/2014/main" id="{B8B6CF8C-A31B-CB86-547D-0DC748EAD3C9}"/>
                  </a:ext>
                </a:extLst>
              </p:cNvPr>
              <p:cNvSpPr/>
              <p:nvPr/>
            </p:nvSpPr>
            <p:spPr>
              <a:xfrm>
                <a:off x="1857829" y="2038801"/>
                <a:ext cx="177800" cy="393954"/>
              </a:xfrm>
              <a:prstGeom prst="rect">
                <a:avLst/>
              </a:prstGeom>
              <a:solidFill>
                <a:srgbClr val="2D4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af-ZA" noProof="0" dirty="0"/>
              </a:p>
            </p:txBody>
          </p:sp>
          <p:cxnSp>
            <p:nvCxnSpPr>
              <p:cNvPr id="34" name="Straight Arrow Connector 33">
                <a:extLst>
                  <a:ext uri="{FF2B5EF4-FFF2-40B4-BE49-F238E27FC236}">
                    <a16:creationId xmlns:a16="http://schemas.microsoft.com/office/drawing/2014/main" id="{A702B211-97A6-50F3-6426-232AE5A85133}"/>
                  </a:ext>
                </a:extLst>
              </p:cNvPr>
              <p:cNvCxnSpPr/>
              <p:nvPr/>
            </p:nvCxnSpPr>
            <p:spPr>
              <a:xfrm>
                <a:off x="1944914" y="2038801"/>
                <a:ext cx="0" cy="402883"/>
              </a:xfrm>
              <a:prstGeom prst="straightConnector1">
                <a:avLst/>
              </a:prstGeom>
              <a:ln>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43925FF8-D135-8CA8-40FD-900732753DA2}"/>
                  </a:ext>
                </a:extLst>
              </p:cNvPr>
              <p:cNvSpPr txBox="1"/>
              <p:nvPr/>
            </p:nvSpPr>
            <p:spPr>
              <a:xfrm rot="16200000">
                <a:off x="1689101" y="2071458"/>
                <a:ext cx="391886" cy="215444"/>
              </a:xfrm>
              <a:prstGeom prst="rect">
                <a:avLst/>
              </a:prstGeom>
              <a:noFill/>
            </p:spPr>
            <p:txBody>
              <a:bodyPr wrap="square" rtlCol="0">
                <a:spAutoFit/>
              </a:bodyPr>
              <a:lstStyle/>
              <a:p>
                <a:r>
                  <a:rPr lang="af-ZA" sz="800" noProof="0" dirty="0"/>
                  <a:t>het</a:t>
                </a:r>
              </a:p>
            </p:txBody>
          </p:sp>
          <p:sp>
            <p:nvSpPr>
              <p:cNvPr id="36" name="Rectangle 35">
                <a:extLst>
                  <a:ext uri="{FF2B5EF4-FFF2-40B4-BE49-F238E27FC236}">
                    <a16:creationId xmlns:a16="http://schemas.microsoft.com/office/drawing/2014/main" id="{AEF24EA1-BEF4-F03A-6DF6-6DED6E1BB012}"/>
                  </a:ext>
                </a:extLst>
              </p:cNvPr>
              <p:cNvSpPr/>
              <p:nvPr/>
            </p:nvSpPr>
            <p:spPr>
              <a:xfrm>
                <a:off x="2641599" y="1948543"/>
                <a:ext cx="1683657" cy="447114"/>
              </a:xfrm>
              <a:prstGeom prst="rect">
                <a:avLst/>
              </a:prstGeom>
              <a:solidFill>
                <a:srgbClr val="2D4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af-ZA" noProof="0" dirty="0"/>
              </a:p>
            </p:txBody>
          </p:sp>
          <p:cxnSp>
            <p:nvCxnSpPr>
              <p:cNvPr id="38" name="Straight Arrow Connector 37">
                <a:extLst>
                  <a:ext uri="{FF2B5EF4-FFF2-40B4-BE49-F238E27FC236}">
                    <a16:creationId xmlns:a16="http://schemas.microsoft.com/office/drawing/2014/main" id="{3B4A3E0C-CF30-1A2A-53A3-AFD9BE84EB11}"/>
                  </a:ext>
                </a:extLst>
              </p:cNvPr>
              <p:cNvCxnSpPr>
                <a:cxnSpLocks/>
              </p:cNvCxnSpPr>
              <p:nvPr/>
            </p:nvCxnSpPr>
            <p:spPr>
              <a:xfrm flipH="1">
                <a:off x="3011714" y="1948543"/>
                <a:ext cx="235857" cy="426580"/>
              </a:xfrm>
              <a:prstGeom prst="straightConnector1">
                <a:avLst/>
              </a:prstGeom>
              <a:ln>
                <a:solidFill>
                  <a:schemeClr val="tx1"/>
                </a:solidFill>
                <a:headEnd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568D2B43-065F-3AF9-F88A-8EC8DFB5C5F6}"/>
                  </a:ext>
                </a:extLst>
              </p:cNvPr>
              <p:cNvCxnSpPr>
                <a:cxnSpLocks/>
              </p:cNvCxnSpPr>
              <p:nvPr/>
            </p:nvCxnSpPr>
            <p:spPr>
              <a:xfrm>
                <a:off x="3668486" y="1948543"/>
                <a:ext cx="235857" cy="426580"/>
              </a:xfrm>
              <a:prstGeom prst="straightConnector1">
                <a:avLst/>
              </a:prstGeom>
              <a:ln>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5F455E75-2998-D63F-8C85-FE4A3300392F}"/>
                  </a:ext>
                </a:extLst>
              </p:cNvPr>
              <p:cNvSpPr txBox="1"/>
              <p:nvPr/>
            </p:nvSpPr>
            <p:spPr>
              <a:xfrm rot="17997063">
                <a:off x="2860466" y="2039637"/>
                <a:ext cx="391886" cy="215444"/>
              </a:xfrm>
              <a:prstGeom prst="rect">
                <a:avLst/>
              </a:prstGeom>
              <a:noFill/>
            </p:spPr>
            <p:txBody>
              <a:bodyPr wrap="square" rtlCol="0">
                <a:spAutoFit/>
              </a:bodyPr>
              <a:lstStyle/>
              <a:p>
                <a:r>
                  <a:rPr lang="af-ZA" sz="800" noProof="0" dirty="0"/>
                  <a:t>besit</a:t>
                </a:r>
              </a:p>
            </p:txBody>
          </p:sp>
          <p:sp>
            <p:nvSpPr>
              <p:cNvPr id="44" name="TextBox 43">
                <a:extLst>
                  <a:ext uri="{FF2B5EF4-FFF2-40B4-BE49-F238E27FC236}">
                    <a16:creationId xmlns:a16="http://schemas.microsoft.com/office/drawing/2014/main" id="{83461C29-95A4-8D94-56CB-F07DC4A03B89}"/>
                  </a:ext>
                </a:extLst>
              </p:cNvPr>
              <p:cNvSpPr txBox="1"/>
              <p:nvPr/>
            </p:nvSpPr>
            <p:spPr>
              <a:xfrm rot="3652677">
                <a:off x="3655794" y="2031627"/>
                <a:ext cx="410131" cy="215444"/>
              </a:xfrm>
              <a:prstGeom prst="rect">
                <a:avLst/>
              </a:prstGeom>
              <a:noFill/>
            </p:spPr>
            <p:txBody>
              <a:bodyPr wrap="square" rtlCol="0">
                <a:spAutoFit/>
              </a:bodyPr>
              <a:lstStyle/>
              <a:p>
                <a:r>
                  <a:rPr lang="af-ZA" sz="800" noProof="0" dirty="0"/>
                  <a:t>plaas</a:t>
                </a:r>
              </a:p>
            </p:txBody>
          </p:sp>
          <p:sp>
            <p:nvSpPr>
              <p:cNvPr id="46" name="Rectangle 45">
                <a:extLst>
                  <a:ext uri="{FF2B5EF4-FFF2-40B4-BE49-F238E27FC236}">
                    <a16:creationId xmlns:a16="http://schemas.microsoft.com/office/drawing/2014/main" id="{5F5A3053-A6ED-36C2-CAFB-2974C2995CDE}"/>
                  </a:ext>
                </a:extLst>
              </p:cNvPr>
              <p:cNvSpPr/>
              <p:nvPr/>
            </p:nvSpPr>
            <p:spPr>
              <a:xfrm>
                <a:off x="3617687" y="2977465"/>
                <a:ext cx="575230" cy="335421"/>
              </a:xfrm>
              <a:prstGeom prst="rect">
                <a:avLst/>
              </a:prstGeom>
              <a:solidFill>
                <a:srgbClr val="2D4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af-ZA" noProof="0" dirty="0"/>
              </a:p>
            </p:txBody>
          </p:sp>
          <p:cxnSp>
            <p:nvCxnSpPr>
              <p:cNvPr id="47" name="Straight Arrow Connector 46">
                <a:extLst>
                  <a:ext uri="{FF2B5EF4-FFF2-40B4-BE49-F238E27FC236}">
                    <a16:creationId xmlns:a16="http://schemas.microsoft.com/office/drawing/2014/main" id="{9788811F-5749-3454-35E7-EE410CC356FC}"/>
                  </a:ext>
                </a:extLst>
              </p:cNvPr>
              <p:cNvCxnSpPr>
                <a:cxnSpLocks/>
              </p:cNvCxnSpPr>
              <p:nvPr/>
            </p:nvCxnSpPr>
            <p:spPr>
              <a:xfrm>
                <a:off x="3904343" y="2977465"/>
                <a:ext cx="0" cy="335421"/>
              </a:xfrm>
              <a:prstGeom prst="straightConnector1">
                <a:avLst/>
              </a:prstGeom>
              <a:ln>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652EF16D-FC6E-077C-5E8C-0FD7CE6DC5B2}"/>
                  </a:ext>
                </a:extLst>
              </p:cNvPr>
              <p:cNvSpPr txBox="1"/>
              <p:nvPr/>
            </p:nvSpPr>
            <p:spPr>
              <a:xfrm rot="16200000">
                <a:off x="3622009" y="3018054"/>
                <a:ext cx="423075" cy="215444"/>
              </a:xfrm>
              <a:prstGeom prst="rect">
                <a:avLst/>
              </a:prstGeom>
              <a:noFill/>
            </p:spPr>
            <p:txBody>
              <a:bodyPr wrap="square" rtlCol="0">
                <a:spAutoFit/>
              </a:bodyPr>
              <a:lstStyle/>
              <a:p>
                <a:r>
                  <a:rPr lang="af-ZA" sz="800" noProof="0" dirty="0"/>
                  <a:t>bevat</a:t>
                </a:r>
              </a:p>
            </p:txBody>
          </p:sp>
        </p:gr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Shape 0"/>
          <p:cNvSpPr/>
          <p:nvPr/>
        </p:nvSpPr>
        <p:spPr>
          <a:xfrm>
            <a:off x="571500" y="0"/>
            <a:ext cx="7858125" cy="951905"/>
          </a:xfrm>
          <a:prstGeom prst="rect">
            <a:avLst/>
          </a:prstGeom>
          <a:solidFill>
            <a:srgbClr val="000000">
              <a:alpha val="0"/>
            </a:srgbClr>
          </a:solidFill>
          <a:ln/>
        </p:spPr>
        <p:txBody>
          <a:bodyPr/>
          <a:lstStyle/>
          <a:p>
            <a:endParaRPr lang="en-ZA"/>
          </a:p>
        </p:txBody>
      </p:sp>
      <p:sp>
        <p:nvSpPr>
          <p:cNvPr id="5" name="Shape 1"/>
          <p:cNvSpPr/>
          <p:nvPr/>
        </p:nvSpPr>
        <p:spPr>
          <a:xfrm>
            <a:off x="142875" y="817182"/>
            <a:ext cx="7858125" cy="14288"/>
          </a:xfrm>
          <a:prstGeom prst="rect">
            <a:avLst/>
          </a:prstGeom>
          <a:solidFill>
            <a:srgbClr val="D4AF37"/>
          </a:solidFill>
          <a:ln/>
        </p:spPr>
        <p:txBody>
          <a:bodyPr/>
          <a:lstStyle/>
          <a:p>
            <a:endParaRPr lang="en-ZA"/>
          </a:p>
        </p:txBody>
      </p:sp>
      <p:sp>
        <p:nvSpPr>
          <p:cNvPr id="6" name="Text 2"/>
          <p:cNvSpPr/>
          <p:nvPr/>
        </p:nvSpPr>
        <p:spPr>
          <a:xfrm>
            <a:off x="1143000" y="428625"/>
            <a:ext cx="7286625" cy="366117"/>
          </a:xfrm>
          <a:prstGeom prst="rect">
            <a:avLst/>
          </a:prstGeom>
          <a:noFill/>
          <a:ln/>
        </p:spPr>
        <p:txBody>
          <a:bodyPr wrap="square" lIns="0" tIns="0" rIns="0" bIns="0" rtlCol="0" anchor="t">
            <a:spAutoFit/>
          </a:bodyPr>
          <a:lstStyle/>
          <a:p>
            <a:pPr marL="0" indent="0" algn="l">
              <a:buNone/>
            </a:pPr>
            <a:r>
              <a:rPr lang="en-US" sz="2100" b="1" dirty="0">
                <a:solidFill>
                  <a:srgbClr val="1B3022"/>
                </a:solidFill>
                <a:latin typeface="Montserrat Bold" pitchFamily="34" charset="0"/>
                <a:ea typeface="Montserrat Bold" pitchFamily="34" charset="-122"/>
                <a:cs typeface="Montserrat Bold" pitchFamily="34" charset="-120"/>
              </a:rPr>
              <a:t>Inkopiemandjie en Verkope-stroom</a:t>
            </a:r>
            <a:endParaRPr lang="en-US" sz="2100" dirty="0"/>
          </a:p>
        </p:txBody>
      </p:sp>
      <p:sp>
        <p:nvSpPr>
          <p:cNvPr id="7" name="Text 3"/>
          <p:cNvSpPr/>
          <p:nvPr/>
        </p:nvSpPr>
        <p:spPr>
          <a:xfrm>
            <a:off x="571500" y="1423392"/>
            <a:ext cx="4429125" cy="822871"/>
          </a:xfrm>
          <a:prstGeom prst="rect">
            <a:avLst/>
          </a:prstGeom>
          <a:noFill/>
          <a:ln/>
        </p:spPr>
        <p:txBody>
          <a:bodyPr wrap="square" lIns="0" tIns="0" rIns="0" bIns="0" rtlCol="0" anchor="t">
            <a:spAutoFit/>
          </a:bodyPr>
          <a:lstStyle/>
          <a:p>
            <a:pPr marL="0" indent="0" algn="l">
              <a:lnSpc>
                <a:spcPct val="128000"/>
              </a:lnSpc>
              <a:buNone/>
            </a:pPr>
            <a:r>
              <a:rPr lang="en-US" sz="950" dirty="0">
                <a:solidFill>
                  <a:srgbClr val="555555"/>
                </a:solidFill>
                <a:latin typeface="Montserrat" pitchFamily="34" charset="0"/>
                <a:ea typeface="Montserrat" pitchFamily="34" charset="-122"/>
                <a:cs typeface="Montserrat" pitchFamily="34" charset="-120"/>
              </a:rPr>
              <a:t>Die stelsel bied 'n naatlose e-handel ervaring wat kliënte toelaat om plaasprodukte direk te besigtig en te bestel. Hierdie integrasie verseker dat verkope onmiddellik in die finansiële rekords gereflekteer word.</a:t>
            </a:r>
            <a:endParaRPr lang="en-US" sz="950" dirty="0"/>
          </a:p>
        </p:txBody>
      </p:sp>
      <p:sp>
        <p:nvSpPr>
          <p:cNvPr id="8" name="Shape 4"/>
          <p:cNvSpPr/>
          <p:nvPr/>
        </p:nvSpPr>
        <p:spPr>
          <a:xfrm>
            <a:off x="571500" y="2660600"/>
            <a:ext cx="966862" cy="375047"/>
          </a:xfrm>
          <a:prstGeom prst="rect">
            <a:avLst/>
          </a:prstGeom>
          <a:solidFill>
            <a:srgbClr val="1B3022"/>
          </a:solidFill>
          <a:ln/>
        </p:spPr>
        <p:txBody>
          <a:bodyPr/>
          <a:lstStyle/>
          <a:p>
            <a:endParaRPr lang="en-ZA"/>
          </a:p>
        </p:txBody>
      </p:sp>
      <p:sp>
        <p:nvSpPr>
          <p:cNvPr id="9" name="Shape 5"/>
          <p:cNvSpPr/>
          <p:nvPr/>
        </p:nvSpPr>
        <p:spPr>
          <a:xfrm>
            <a:off x="571500" y="3028504"/>
            <a:ext cx="966862" cy="7144"/>
          </a:xfrm>
          <a:prstGeom prst="rect">
            <a:avLst/>
          </a:prstGeom>
          <a:solidFill>
            <a:srgbClr val="D4AF37"/>
          </a:solidFill>
          <a:ln/>
        </p:spPr>
        <p:txBody>
          <a:bodyPr/>
          <a:lstStyle/>
          <a:p>
            <a:endParaRPr lang="en-ZA"/>
          </a:p>
        </p:txBody>
      </p:sp>
      <p:sp>
        <p:nvSpPr>
          <p:cNvPr id="10" name="Text 6"/>
          <p:cNvSpPr/>
          <p:nvPr/>
        </p:nvSpPr>
        <p:spPr>
          <a:xfrm>
            <a:off x="571500" y="2660600"/>
            <a:ext cx="966862" cy="375047"/>
          </a:xfrm>
          <a:prstGeom prst="rect">
            <a:avLst/>
          </a:prstGeom>
          <a:noFill/>
          <a:ln/>
        </p:spPr>
        <p:txBody>
          <a:bodyPr wrap="none" lIns="127508" tIns="127508" rIns="127508" bIns="127508" rtlCol="0" anchor="ctr">
            <a:spAutoFit/>
          </a:bodyPr>
          <a:lstStyle/>
          <a:p>
            <a:pPr marL="0" indent="0" algn="l">
              <a:buNone/>
            </a:pPr>
            <a:r>
              <a:rPr lang="en-US" sz="900" b="1" dirty="0">
                <a:solidFill>
                  <a:srgbClr val="D4AF37"/>
                </a:solidFill>
                <a:latin typeface="Montserrat Bold" pitchFamily="34" charset="0"/>
                <a:ea typeface="Montserrat Bold" pitchFamily="34" charset="-122"/>
                <a:cs typeface="Montserrat Bold" pitchFamily="34" charset="-120"/>
              </a:rPr>
              <a:t>Fase</a:t>
            </a:r>
            <a:endParaRPr lang="en-US" sz="900" dirty="0"/>
          </a:p>
        </p:txBody>
      </p:sp>
      <p:sp>
        <p:nvSpPr>
          <p:cNvPr id="11" name="Shape 7"/>
          <p:cNvSpPr/>
          <p:nvPr/>
        </p:nvSpPr>
        <p:spPr>
          <a:xfrm>
            <a:off x="1538362" y="2660600"/>
            <a:ext cx="3462263" cy="375047"/>
          </a:xfrm>
          <a:prstGeom prst="rect">
            <a:avLst/>
          </a:prstGeom>
          <a:solidFill>
            <a:srgbClr val="1B3022"/>
          </a:solidFill>
          <a:ln/>
        </p:spPr>
        <p:txBody>
          <a:bodyPr/>
          <a:lstStyle/>
          <a:p>
            <a:endParaRPr lang="en-ZA"/>
          </a:p>
        </p:txBody>
      </p:sp>
      <p:sp>
        <p:nvSpPr>
          <p:cNvPr id="12" name="Shape 8"/>
          <p:cNvSpPr/>
          <p:nvPr/>
        </p:nvSpPr>
        <p:spPr>
          <a:xfrm>
            <a:off x="1538362" y="3028504"/>
            <a:ext cx="3462263" cy="7144"/>
          </a:xfrm>
          <a:prstGeom prst="rect">
            <a:avLst/>
          </a:prstGeom>
          <a:solidFill>
            <a:srgbClr val="D4AF37"/>
          </a:solidFill>
          <a:ln/>
        </p:spPr>
        <p:txBody>
          <a:bodyPr/>
          <a:lstStyle/>
          <a:p>
            <a:endParaRPr lang="en-ZA"/>
          </a:p>
        </p:txBody>
      </p:sp>
      <p:sp>
        <p:nvSpPr>
          <p:cNvPr id="13" name="Text 9"/>
          <p:cNvSpPr/>
          <p:nvPr/>
        </p:nvSpPr>
        <p:spPr>
          <a:xfrm>
            <a:off x="1538362" y="2660600"/>
            <a:ext cx="3462263" cy="375047"/>
          </a:xfrm>
          <a:prstGeom prst="rect">
            <a:avLst/>
          </a:prstGeom>
          <a:noFill/>
          <a:ln/>
        </p:spPr>
        <p:txBody>
          <a:bodyPr wrap="square" lIns="127508" tIns="127508" rIns="127508" bIns="127508" rtlCol="0" anchor="ctr">
            <a:spAutoFit/>
          </a:bodyPr>
          <a:lstStyle/>
          <a:p>
            <a:pPr marL="0" indent="0" algn="l">
              <a:buNone/>
            </a:pPr>
            <a:r>
              <a:rPr lang="en-US" sz="900" b="1" dirty="0">
                <a:solidFill>
                  <a:srgbClr val="D4AF37"/>
                </a:solidFill>
                <a:latin typeface="Montserrat Bold" pitchFamily="34" charset="0"/>
                <a:ea typeface="Montserrat Bold" pitchFamily="34" charset="-122"/>
                <a:cs typeface="Montserrat Bold" pitchFamily="34" charset="-120"/>
              </a:rPr>
              <a:t>Beskrywing</a:t>
            </a:r>
            <a:endParaRPr lang="en-US" sz="900" dirty="0"/>
          </a:p>
        </p:txBody>
      </p:sp>
      <p:sp>
        <p:nvSpPr>
          <p:cNvPr id="14" name="Text 10"/>
          <p:cNvSpPr/>
          <p:nvPr/>
        </p:nvSpPr>
        <p:spPr>
          <a:xfrm>
            <a:off x="678656" y="3139232"/>
            <a:ext cx="489347" cy="139303"/>
          </a:xfrm>
          <a:prstGeom prst="rect">
            <a:avLst/>
          </a:prstGeom>
          <a:noFill/>
          <a:ln/>
        </p:spPr>
        <p:txBody>
          <a:bodyPr wrap="none" lIns="0" tIns="0" rIns="0" bIns="0" rtlCol="0" anchor="t">
            <a:spAutoFit/>
          </a:bodyPr>
          <a:lstStyle/>
          <a:p>
            <a:pPr marL="0" indent="0" algn="l">
              <a:buNone/>
            </a:pPr>
            <a:r>
              <a:rPr lang="en-US" sz="800" b="1" dirty="0">
                <a:solidFill>
                  <a:srgbClr val="2C2C2C"/>
                </a:solidFill>
                <a:latin typeface="Montserrat Bold" pitchFamily="34" charset="0"/>
                <a:ea typeface="Montserrat Bold" pitchFamily="34" charset="-122"/>
                <a:cs typeface="Montserrat Bold" pitchFamily="34" charset="-120"/>
              </a:rPr>
              <a:t>Seleksie</a:t>
            </a:r>
            <a:endParaRPr lang="en-US" sz="800" dirty="0"/>
          </a:p>
        </p:txBody>
      </p:sp>
      <p:sp>
        <p:nvSpPr>
          <p:cNvPr id="15" name="Text 11"/>
          <p:cNvSpPr/>
          <p:nvPr/>
        </p:nvSpPr>
        <p:spPr>
          <a:xfrm>
            <a:off x="1538362" y="3032075"/>
            <a:ext cx="3462263" cy="357188"/>
          </a:xfrm>
          <a:prstGeom prst="rect">
            <a:avLst/>
          </a:prstGeom>
          <a:noFill/>
          <a:ln/>
        </p:spPr>
        <p:txBody>
          <a:bodyPr wrap="square" lIns="127508" tIns="127508" rIns="127508" bIns="127508" rtlCol="0" anchor="ctr">
            <a:spAutoFit/>
          </a:bodyPr>
          <a:lstStyle/>
          <a:p>
            <a:pPr marL="0" indent="0" algn="l">
              <a:buNone/>
            </a:pPr>
            <a:r>
              <a:rPr lang="en-US" sz="850" dirty="0">
                <a:solidFill>
                  <a:srgbClr val="2C2C2C"/>
                </a:solidFill>
                <a:latin typeface="Montserrat" pitchFamily="34" charset="0"/>
                <a:ea typeface="Montserrat" pitchFamily="34" charset="-122"/>
                <a:cs typeface="Montserrat" pitchFamily="34" charset="-120"/>
              </a:rPr>
              <a:t>Kliënte kies produkte uit die dinamiese katalogus.</a:t>
            </a:r>
            <a:endParaRPr lang="en-US" sz="850" dirty="0"/>
          </a:p>
        </p:txBody>
      </p:sp>
      <p:sp>
        <p:nvSpPr>
          <p:cNvPr id="16" name="Text 12"/>
          <p:cNvSpPr/>
          <p:nvPr/>
        </p:nvSpPr>
        <p:spPr>
          <a:xfrm>
            <a:off x="678656" y="3499991"/>
            <a:ext cx="476845" cy="139303"/>
          </a:xfrm>
          <a:prstGeom prst="rect">
            <a:avLst/>
          </a:prstGeom>
          <a:noFill/>
          <a:ln/>
        </p:spPr>
        <p:txBody>
          <a:bodyPr wrap="none" lIns="0" tIns="0" rIns="0" bIns="0" rtlCol="0" anchor="t">
            <a:spAutoFit/>
          </a:bodyPr>
          <a:lstStyle/>
          <a:p>
            <a:pPr marL="0" indent="0" algn="l">
              <a:buNone/>
            </a:pPr>
            <a:r>
              <a:rPr lang="en-US" sz="800" b="1" dirty="0">
                <a:solidFill>
                  <a:srgbClr val="2C2C2C"/>
                </a:solidFill>
                <a:latin typeface="Montserrat Bold" pitchFamily="34" charset="0"/>
                <a:ea typeface="Montserrat Bold" pitchFamily="34" charset="-122"/>
                <a:cs typeface="Montserrat Bold" pitchFamily="34" charset="-120"/>
              </a:rPr>
              <a:t>Mandjie</a:t>
            </a:r>
            <a:endParaRPr lang="en-US" sz="800" dirty="0"/>
          </a:p>
        </p:txBody>
      </p:sp>
      <p:sp>
        <p:nvSpPr>
          <p:cNvPr id="17" name="Text 13"/>
          <p:cNvSpPr/>
          <p:nvPr/>
        </p:nvSpPr>
        <p:spPr>
          <a:xfrm>
            <a:off x="1538362" y="3389263"/>
            <a:ext cx="3462263" cy="360759"/>
          </a:xfrm>
          <a:prstGeom prst="rect">
            <a:avLst/>
          </a:prstGeom>
          <a:noFill/>
          <a:ln/>
        </p:spPr>
        <p:txBody>
          <a:bodyPr wrap="square" lIns="127508" tIns="127508" rIns="127508" bIns="127508" rtlCol="0" anchor="ctr">
            <a:spAutoFit/>
          </a:bodyPr>
          <a:lstStyle/>
          <a:p>
            <a:pPr marL="0" indent="0" algn="l">
              <a:buNone/>
            </a:pPr>
            <a:r>
              <a:rPr lang="en-US" sz="850" dirty="0">
                <a:solidFill>
                  <a:srgbClr val="2C2C2C"/>
                </a:solidFill>
                <a:latin typeface="Montserrat" pitchFamily="34" charset="0"/>
                <a:ea typeface="Montserrat" pitchFamily="34" charset="-122"/>
                <a:cs typeface="Montserrat" pitchFamily="34" charset="-120"/>
              </a:rPr>
              <a:t>Intydse berekening van pryse en hoeveelhede.</a:t>
            </a:r>
            <a:endParaRPr lang="en-US" sz="850" dirty="0"/>
          </a:p>
        </p:txBody>
      </p:sp>
      <p:sp>
        <p:nvSpPr>
          <p:cNvPr id="18" name="Text 14"/>
          <p:cNvSpPr/>
          <p:nvPr/>
        </p:nvSpPr>
        <p:spPr>
          <a:xfrm>
            <a:off x="678656" y="3860750"/>
            <a:ext cx="600075" cy="139303"/>
          </a:xfrm>
          <a:prstGeom prst="rect">
            <a:avLst/>
          </a:prstGeom>
          <a:noFill/>
          <a:ln/>
        </p:spPr>
        <p:txBody>
          <a:bodyPr wrap="none" lIns="0" tIns="0" rIns="0" bIns="0" rtlCol="0" anchor="t">
            <a:spAutoFit/>
          </a:bodyPr>
          <a:lstStyle/>
          <a:p>
            <a:pPr marL="0" indent="0" algn="l">
              <a:buNone/>
            </a:pPr>
            <a:r>
              <a:rPr lang="en-US" sz="800" b="1" dirty="0">
                <a:solidFill>
                  <a:srgbClr val="2C2C2C"/>
                </a:solidFill>
                <a:latin typeface="Montserrat Bold" pitchFamily="34" charset="0"/>
                <a:ea typeface="Montserrat Bold" pitchFamily="34" charset="-122"/>
                <a:cs typeface="Montserrat Bold" pitchFamily="34" charset="-120"/>
              </a:rPr>
              <a:t>Bestelling</a:t>
            </a:r>
            <a:endParaRPr lang="en-US" sz="800" dirty="0"/>
          </a:p>
        </p:txBody>
      </p:sp>
      <p:sp>
        <p:nvSpPr>
          <p:cNvPr id="19" name="Text 15"/>
          <p:cNvSpPr/>
          <p:nvPr/>
        </p:nvSpPr>
        <p:spPr>
          <a:xfrm>
            <a:off x="1538362" y="3750022"/>
            <a:ext cx="3462263" cy="360759"/>
          </a:xfrm>
          <a:prstGeom prst="rect">
            <a:avLst/>
          </a:prstGeom>
          <a:noFill/>
          <a:ln/>
        </p:spPr>
        <p:txBody>
          <a:bodyPr wrap="square" lIns="127508" tIns="127508" rIns="127508" bIns="127508" rtlCol="0" anchor="ctr">
            <a:spAutoFit/>
          </a:bodyPr>
          <a:lstStyle/>
          <a:p>
            <a:pPr marL="0" indent="0" algn="l">
              <a:buNone/>
            </a:pPr>
            <a:r>
              <a:rPr lang="en-US" sz="850" dirty="0">
                <a:solidFill>
                  <a:srgbClr val="2C2C2C"/>
                </a:solidFill>
                <a:latin typeface="Montserrat" pitchFamily="34" charset="0"/>
                <a:ea typeface="Montserrat" pitchFamily="34" charset="-122"/>
                <a:cs typeface="Montserrat" pitchFamily="34" charset="-120"/>
              </a:rPr>
              <a:t>Generering van 'n unieke bestelnommer en rekord.</a:t>
            </a:r>
            <a:endParaRPr lang="en-US" sz="850" dirty="0"/>
          </a:p>
        </p:txBody>
      </p:sp>
      <p:sp>
        <p:nvSpPr>
          <p:cNvPr id="20" name="Text 16"/>
          <p:cNvSpPr/>
          <p:nvPr/>
        </p:nvSpPr>
        <p:spPr>
          <a:xfrm>
            <a:off x="678656" y="4221510"/>
            <a:ext cx="735806" cy="139303"/>
          </a:xfrm>
          <a:prstGeom prst="rect">
            <a:avLst/>
          </a:prstGeom>
          <a:noFill/>
          <a:ln/>
        </p:spPr>
        <p:txBody>
          <a:bodyPr wrap="none" lIns="0" tIns="0" rIns="0" bIns="0" rtlCol="0" anchor="t">
            <a:spAutoFit/>
          </a:bodyPr>
          <a:lstStyle/>
          <a:p>
            <a:pPr marL="0" indent="0" algn="l">
              <a:buNone/>
            </a:pPr>
            <a:r>
              <a:rPr lang="en-US" sz="800" b="1" dirty="0">
                <a:solidFill>
                  <a:srgbClr val="2C2C2C"/>
                </a:solidFill>
                <a:latin typeface="Montserrat Bold" pitchFamily="34" charset="0"/>
                <a:ea typeface="Montserrat Bold" pitchFamily="34" charset="-122"/>
                <a:cs typeface="Montserrat Bold" pitchFamily="34" charset="-120"/>
              </a:rPr>
              <a:t>Afhandeling</a:t>
            </a:r>
            <a:endParaRPr lang="en-US" sz="800" dirty="0"/>
          </a:p>
        </p:txBody>
      </p:sp>
      <p:sp>
        <p:nvSpPr>
          <p:cNvPr id="21" name="Text 17"/>
          <p:cNvSpPr/>
          <p:nvPr/>
        </p:nvSpPr>
        <p:spPr>
          <a:xfrm>
            <a:off x="1645518" y="4221510"/>
            <a:ext cx="1653778" cy="139303"/>
          </a:xfrm>
          <a:prstGeom prst="rect">
            <a:avLst/>
          </a:prstGeom>
          <a:noFill/>
          <a:ln/>
        </p:spPr>
        <p:txBody>
          <a:bodyPr wrap="square" lIns="0" tIns="0" rIns="0" bIns="0" rtlCol="0" anchor="t">
            <a:spAutoFit/>
          </a:bodyPr>
          <a:lstStyle/>
          <a:p>
            <a:pPr marL="0" indent="0" algn="l">
              <a:buNone/>
            </a:pPr>
            <a:r>
              <a:rPr lang="en-US" sz="850" dirty="0">
                <a:solidFill>
                  <a:srgbClr val="2C2C2C"/>
                </a:solidFill>
                <a:latin typeface="Montserrat" pitchFamily="34" charset="0"/>
                <a:ea typeface="Montserrat" pitchFamily="34" charset="-122"/>
                <a:cs typeface="Montserrat" pitchFamily="34" charset="-120"/>
              </a:rPr>
              <a:t>Data word permanent in die</a:t>
            </a:r>
            <a:endParaRPr lang="en-US" sz="850" dirty="0"/>
          </a:p>
        </p:txBody>
      </p:sp>
      <p:sp>
        <p:nvSpPr>
          <p:cNvPr id="22" name="Text 18"/>
          <p:cNvSpPr/>
          <p:nvPr/>
        </p:nvSpPr>
        <p:spPr>
          <a:xfrm>
            <a:off x="3299296" y="4221510"/>
            <a:ext cx="723305" cy="139303"/>
          </a:xfrm>
          <a:prstGeom prst="rect">
            <a:avLst/>
          </a:prstGeom>
          <a:noFill/>
          <a:ln/>
        </p:spPr>
        <p:txBody>
          <a:bodyPr wrap="none" lIns="0" tIns="0" rIns="0" bIns="0" rtlCol="0" anchor="t">
            <a:spAutoFit/>
          </a:bodyPr>
          <a:lstStyle/>
          <a:p>
            <a:pPr marL="0" indent="0" algn="l">
              <a:buNone/>
            </a:pPr>
            <a:r>
              <a:rPr lang="en-US" sz="850" i="1" dirty="0">
                <a:solidFill>
                  <a:srgbClr val="2C2C2C"/>
                </a:solidFill>
                <a:latin typeface="Montserrat" pitchFamily="34" charset="0"/>
                <a:ea typeface="Montserrat" pitchFamily="34" charset="-122"/>
                <a:cs typeface="Montserrat" pitchFamily="34" charset="-120"/>
              </a:rPr>
              <a:t>BESTELLING</a:t>
            </a:r>
            <a:endParaRPr lang="en-US" sz="850" dirty="0"/>
          </a:p>
        </p:txBody>
      </p:sp>
      <p:sp>
        <p:nvSpPr>
          <p:cNvPr id="23" name="Text 19"/>
          <p:cNvSpPr/>
          <p:nvPr/>
        </p:nvSpPr>
        <p:spPr>
          <a:xfrm>
            <a:off x="4022601" y="4221510"/>
            <a:ext cx="810816" cy="139303"/>
          </a:xfrm>
          <a:prstGeom prst="rect">
            <a:avLst/>
          </a:prstGeom>
          <a:noFill/>
          <a:ln/>
        </p:spPr>
        <p:txBody>
          <a:bodyPr wrap="none" lIns="0" tIns="0" rIns="0" bIns="0" rtlCol="0" anchor="t">
            <a:spAutoFit/>
          </a:bodyPr>
          <a:lstStyle/>
          <a:p>
            <a:pPr marL="0" indent="0" algn="l">
              <a:buNone/>
            </a:pPr>
            <a:r>
              <a:rPr lang="en-US" sz="850" dirty="0">
                <a:solidFill>
                  <a:srgbClr val="2C2C2C"/>
                </a:solidFill>
                <a:latin typeface="Montserrat" pitchFamily="34" charset="0"/>
                <a:ea typeface="Montserrat" pitchFamily="34" charset="-122"/>
                <a:cs typeface="Montserrat" pitchFamily="34" charset="-120"/>
              </a:rPr>
              <a:t>tabel gestoor.</a:t>
            </a:r>
            <a:endParaRPr lang="en-US" sz="850" dirty="0"/>
          </a:p>
        </p:txBody>
      </p:sp>
      <p:pic>
        <p:nvPicPr>
          <p:cNvPr id="24" name="Image 1" descr="preencoded.png"/>
          <p:cNvPicPr>
            <a:picLocks noChangeAspect="1"/>
          </p:cNvPicPr>
          <p:nvPr/>
        </p:nvPicPr>
        <p:blipFill>
          <a:blip r:embed="rId4"/>
          <a:stretch>
            <a:fillRect/>
          </a:stretch>
        </p:blipFill>
        <p:spPr>
          <a:xfrm>
            <a:off x="5500688" y="1366242"/>
            <a:ext cx="2857500" cy="3214688"/>
          </a:xfrm>
          <a:prstGeom prst="rect">
            <a:avLst/>
          </a:prstGeom>
        </p:spPr>
      </p:pic>
      <p:sp>
        <p:nvSpPr>
          <p:cNvPr id="25" name="Shape 20"/>
          <p:cNvSpPr/>
          <p:nvPr/>
        </p:nvSpPr>
        <p:spPr>
          <a:xfrm>
            <a:off x="5500689" y="4316611"/>
            <a:ext cx="2857500" cy="264319"/>
          </a:xfrm>
          <a:prstGeom prst="rect">
            <a:avLst/>
          </a:prstGeom>
          <a:solidFill>
            <a:srgbClr val="1B3022">
              <a:alpha val="80000"/>
            </a:srgbClr>
          </a:solidFill>
          <a:ln/>
        </p:spPr>
        <p:txBody>
          <a:bodyPr/>
          <a:lstStyle/>
          <a:p>
            <a:endParaRPr lang="en-ZA"/>
          </a:p>
        </p:txBody>
      </p:sp>
      <p:sp>
        <p:nvSpPr>
          <p:cNvPr id="26" name="Text 21"/>
          <p:cNvSpPr/>
          <p:nvPr/>
        </p:nvSpPr>
        <p:spPr>
          <a:xfrm>
            <a:off x="5500688" y="4316611"/>
            <a:ext cx="3000375" cy="264319"/>
          </a:xfrm>
          <a:prstGeom prst="rect">
            <a:avLst/>
          </a:prstGeom>
          <a:noFill/>
          <a:ln/>
        </p:spPr>
        <p:txBody>
          <a:bodyPr wrap="square" lIns="85090" tIns="85090" rIns="85090" bIns="85090" rtlCol="0" anchor="t">
            <a:spAutoFit/>
          </a:bodyPr>
          <a:lstStyle/>
          <a:p>
            <a:pPr marL="0" indent="0" algn="ctr">
              <a:buNone/>
            </a:pPr>
            <a:r>
              <a:rPr lang="en-US" sz="750" dirty="0">
                <a:solidFill>
                  <a:srgbClr val="D4AF37"/>
                </a:solidFill>
                <a:latin typeface="Montserrat" pitchFamily="34" charset="0"/>
                <a:ea typeface="Montserrat" pitchFamily="34" charset="-122"/>
                <a:cs typeface="Montserrat" pitchFamily="34" charset="-120"/>
              </a:rPr>
              <a:t>Premium Highveld Wol - Gereed vir Bemarking</a:t>
            </a:r>
            <a:endParaRPr lang="en-US" sz="750" dirty="0"/>
          </a:p>
        </p:txBody>
      </p:sp>
      <p:sp>
        <p:nvSpPr>
          <p:cNvPr id="2" name="Rectangle 1">
            <a:extLst>
              <a:ext uri="{FF2B5EF4-FFF2-40B4-BE49-F238E27FC236}">
                <a16:creationId xmlns:a16="http://schemas.microsoft.com/office/drawing/2014/main" id="{06356AB4-35A7-1D8F-0067-AFD27365B24A}"/>
              </a:ext>
            </a:extLst>
          </p:cNvPr>
          <p:cNvSpPr/>
          <p:nvPr/>
        </p:nvSpPr>
        <p:spPr>
          <a:xfrm>
            <a:off x="0" y="0"/>
            <a:ext cx="142875" cy="5143500"/>
          </a:xfrm>
          <a:prstGeom prst="rect">
            <a:avLst/>
          </a:prstGeom>
          <a:solidFill>
            <a:srgbClr val="1B30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7" name="Rectangle 26">
            <a:extLst>
              <a:ext uri="{FF2B5EF4-FFF2-40B4-BE49-F238E27FC236}">
                <a16:creationId xmlns:a16="http://schemas.microsoft.com/office/drawing/2014/main" id="{C835D39F-5449-7DEC-31B0-A1B19A606796}"/>
              </a:ext>
            </a:extLst>
          </p:cNvPr>
          <p:cNvSpPr/>
          <p:nvPr/>
        </p:nvSpPr>
        <p:spPr>
          <a:xfrm>
            <a:off x="9002956" y="0"/>
            <a:ext cx="142875" cy="5143500"/>
          </a:xfrm>
          <a:prstGeom prst="rect">
            <a:avLst/>
          </a:prstGeom>
          <a:solidFill>
            <a:srgbClr val="F9F9F9"/>
          </a:solidFill>
          <a:ln>
            <a:solidFill>
              <a:srgbClr val="F9F9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571500" y="428625"/>
            <a:ext cx="6188273" cy="466130"/>
          </a:xfrm>
          <a:prstGeom prst="rect">
            <a:avLst/>
          </a:prstGeom>
          <a:noFill/>
          <a:ln/>
        </p:spPr>
        <p:txBody>
          <a:bodyPr wrap="square" lIns="0" tIns="0" rIns="0" bIns="85090" rtlCol="0" anchor="t">
            <a:spAutoFit/>
          </a:bodyPr>
          <a:lstStyle/>
          <a:p>
            <a:pPr marL="0" indent="0" algn="l">
              <a:buNone/>
            </a:pPr>
            <a:r>
              <a:rPr lang="en-US" sz="2100" b="1" dirty="0">
                <a:solidFill>
                  <a:srgbClr val="1B3022"/>
                </a:solidFill>
                <a:latin typeface="Montserrat Bold" pitchFamily="34" charset="0"/>
                <a:ea typeface="Montserrat Bold" pitchFamily="34" charset="-122"/>
                <a:cs typeface="Montserrat Bold" pitchFamily="34" charset="-120"/>
              </a:rPr>
              <a:t>Operasionele Beplanning: Die Kalender</a:t>
            </a:r>
            <a:endParaRPr lang="en-US" sz="2100" dirty="0"/>
          </a:p>
        </p:txBody>
      </p:sp>
      <p:pic>
        <p:nvPicPr>
          <p:cNvPr id="5" name="Image 1" descr="preencoded.png"/>
          <p:cNvPicPr>
            <a:picLocks noChangeAspect="1"/>
          </p:cNvPicPr>
          <p:nvPr/>
        </p:nvPicPr>
        <p:blipFill>
          <a:blip r:embed="rId4"/>
          <a:stretch>
            <a:fillRect/>
          </a:stretch>
        </p:blipFill>
        <p:spPr>
          <a:xfrm>
            <a:off x="585788" y="1194792"/>
            <a:ext cx="3857625" cy="3214688"/>
          </a:xfrm>
          <a:prstGeom prst="rect">
            <a:avLst/>
          </a:prstGeom>
        </p:spPr>
      </p:pic>
      <p:sp>
        <p:nvSpPr>
          <p:cNvPr id="6" name="Text 1"/>
          <p:cNvSpPr/>
          <p:nvPr/>
        </p:nvSpPr>
        <p:spPr>
          <a:xfrm>
            <a:off x="4886325" y="1309092"/>
            <a:ext cx="3543300" cy="822871"/>
          </a:xfrm>
          <a:prstGeom prst="rect">
            <a:avLst/>
          </a:prstGeom>
          <a:noFill/>
          <a:ln/>
        </p:spPr>
        <p:txBody>
          <a:bodyPr wrap="square" lIns="0" tIns="0" rIns="0" bIns="0" rtlCol="0" anchor="t">
            <a:spAutoFit/>
          </a:bodyPr>
          <a:lstStyle/>
          <a:p>
            <a:pPr marL="0" indent="0" algn="l">
              <a:lnSpc>
                <a:spcPct val="128000"/>
              </a:lnSpc>
              <a:buNone/>
            </a:pPr>
            <a:r>
              <a:rPr lang="en-US" sz="950" dirty="0">
                <a:solidFill>
                  <a:srgbClr val="2C2C2C"/>
                </a:solidFill>
                <a:latin typeface="Montserrat" pitchFamily="34" charset="0"/>
                <a:ea typeface="Montserrat" pitchFamily="34" charset="-122"/>
                <a:cs typeface="Montserrat" pitchFamily="34" charset="-120"/>
              </a:rPr>
              <a:t>Die geïntegreerde kalender is 'n kragtige instrument vir die proaktiewe bestuur van plaasaktiwiteite. Dit verseker dat geen kritieke gebeurtenis oor die hoof gesien word nie.</a:t>
            </a:r>
            <a:endParaRPr lang="en-US" sz="950" dirty="0"/>
          </a:p>
        </p:txBody>
      </p:sp>
      <p:sp>
        <p:nvSpPr>
          <p:cNvPr id="7" name="Shape 2"/>
          <p:cNvSpPr/>
          <p:nvPr/>
        </p:nvSpPr>
        <p:spPr>
          <a:xfrm>
            <a:off x="4886325" y="2546300"/>
            <a:ext cx="1457632" cy="564356"/>
          </a:xfrm>
          <a:prstGeom prst="rect">
            <a:avLst/>
          </a:prstGeom>
          <a:solidFill>
            <a:srgbClr val="1B3022"/>
          </a:solidFill>
          <a:ln/>
        </p:spPr>
        <p:txBody>
          <a:bodyPr/>
          <a:lstStyle/>
          <a:p>
            <a:endParaRPr lang="en-ZA"/>
          </a:p>
        </p:txBody>
      </p:sp>
      <p:sp>
        <p:nvSpPr>
          <p:cNvPr id="8" name="Shape 3"/>
          <p:cNvSpPr/>
          <p:nvPr/>
        </p:nvSpPr>
        <p:spPr>
          <a:xfrm>
            <a:off x="4886325" y="3103513"/>
            <a:ext cx="1457632" cy="7144"/>
          </a:xfrm>
          <a:prstGeom prst="rect">
            <a:avLst/>
          </a:prstGeom>
          <a:solidFill>
            <a:srgbClr val="D4AF37"/>
          </a:solidFill>
          <a:ln/>
        </p:spPr>
        <p:txBody>
          <a:bodyPr/>
          <a:lstStyle/>
          <a:p>
            <a:endParaRPr lang="en-ZA"/>
          </a:p>
        </p:txBody>
      </p:sp>
      <p:sp>
        <p:nvSpPr>
          <p:cNvPr id="9" name="Text 4"/>
          <p:cNvSpPr/>
          <p:nvPr/>
        </p:nvSpPr>
        <p:spPr>
          <a:xfrm>
            <a:off x="4886325" y="2546300"/>
            <a:ext cx="1457632" cy="564356"/>
          </a:xfrm>
          <a:prstGeom prst="rect">
            <a:avLst/>
          </a:prstGeom>
          <a:noFill/>
          <a:ln/>
        </p:spPr>
        <p:txBody>
          <a:bodyPr wrap="square" lIns="127508" tIns="127508" rIns="127508" bIns="127508" rtlCol="0" anchor="ctr">
            <a:spAutoFit/>
          </a:bodyPr>
          <a:lstStyle/>
          <a:p>
            <a:pPr marL="0" indent="0" algn="l">
              <a:buNone/>
            </a:pPr>
            <a:r>
              <a:rPr lang="en-US" sz="1000" b="1" dirty="0">
                <a:solidFill>
                  <a:srgbClr val="D4AF37"/>
                </a:solidFill>
                <a:latin typeface="Montserrat Bold" pitchFamily="34" charset="0"/>
                <a:ea typeface="Montserrat Bold" pitchFamily="34" charset="-122"/>
                <a:cs typeface="Montserrat Bold" pitchFamily="34" charset="-120"/>
              </a:rPr>
              <a:t>Gebeurtenis Tipe</a:t>
            </a:r>
            <a:endParaRPr lang="en-US" sz="1000" dirty="0"/>
          </a:p>
        </p:txBody>
      </p:sp>
      <p:sp>
        <p:nvSpPr>
          <p:cNvPr id="10" name="Shape 5"/>
          <p:cNvSpPr/>
          <p:nvPr/>
        </p:nvSpPr>
        <p:spPr>
          <a:xfrm>
            <a:off x="6343957" y="2546300"/>
            <a:ext cx="2085668" cy="560784"/>
          </a:xfrm>
          <a:prstGeom prst="rect">
            <a:avLst/>
          </a:prstGeom>
          <a:solidFill>
            <a:srgbClr val="1B3022"/>
          </a:solidFill>
          <a:ln/>
        </p:spPr>
        <p:txBody>
          <a:bodyPr/>
          <a:lstStyle/>
          <a:p>
            <a:endParaRPr lang="en-ZA"/>
          </a:p>
        </p:txBody>
      </p:sp>
      <p:sp>
        <p:nvSpPr>
          <p:cNvPr id="11" name="Shape 6"/>
          <p:cNvSpPr/>
          <p:nvPr/>
        </p:nvSpPr>
        <p:spPr>
          <a:xfrm>
            <a:off x="6343957" y="3099941"/>
            <a:ext cx="2085668" cy="7144"/>
          </a:xfrm>
          <a:prstGeom prst="rect">
            <a:avLst/>
          </a:prstGeom>
          <a:solidFill>
            <a:srgbClr val="D4AF37"/>
          </a:solidFill>
          <a:ln/>
        </p:spPr>
        <p:txBody>
          <a:bodyPr/>
          <a:lstStyle/>
          <a:p>
            <a:endParaRPr lang="en-ZA"/>
          </a:p>
        </p:txBody>
      </p:sp>
      <p:sp>
        <p:nvSpPr>
          <p:cNvPr id="12" name="Text 7"/>
          <p:cNvSpPr/>
          <p:nvPr/>
        </p:nvSpPr>
        <p:spPr>
          <a:xfrm>
            <a:off x="6343957" y="2546300"/>
            <a:ext cx="2085668" cy="560784"/>
          </a:xfrm>
          <a:prstGeom prst="rect">
            <a:avLst/>
          </a:prstGeom>
          <a:noFill/>
          <a:ln/>
        </p:spPr>
        <p:txBody>
          <a:bodyPr wrap="square" lIns="127508" tIns="127508" rIns="127508" bIns="127508" rtlCol="0" anchor="ctr">
            <a:spAutoFit/>
          </a:bodyPr>
          <a:lstStyle/>
          <a:p>
            <a:pPr marL="0" indent="0" algn="l">
              <a:buNone/>
            </a:pPr>
            <a:r>
              <a:rPr lang="en-US" sz="1000" b="1" dirty="0">
                <a:solidFill>
                  <a:srgbClr val="D4AF37"/>
                </a:solidFill>
                <a:latin typeface="Montserrat Bold" pitchFamily="34" charset="0"/>
                <a:ea typeface="Montserrat Bold" pitchFamily="34" charset="-122"/>
                <a:cs typeface="Montserrat Bold" pitchFamily="34" charset="-120"/>
              </a:rPr>
              <a:t>Beskrywing</a:t>
            </a:r>
            <a:endParaRPr lang="en-US" sz="1000" dirty="0"/>
          </a:p>
        </p:txBody>
      </p:sp>
      <p:sp>
        <p:nvSpPr>
          <p:cNvPr id="13" name="Shape 8"/>
          <p:cNvSpPr/>
          <p:nvPr/>
        </p:nvSpPr>
        <p:spPr>
          <a:xfrm>
            <a:off x="4886325" y="3107085"/>
            <a:ext cx="500063" cy="496491"/>
          </a:xfrm>
          <a:prstGeom prst="rect">
            <a:avLst/>
          </a:prstGeom>
          <a:solidFill>
            <a:srgbClr val="FFFFFF"/>
          </a:solidFill>
          <a:ln/>
        </p:spPr>
        <p:txBody>
          <a:bodyPr/>
          <a:lstStyle/>
          <a:p>
            <a:endParaRPr lang="en-ZA"/>
          </a:p>
        </p:txBody>
      </p:sp>
      <p:sp>
        <p:nvSpPr>
          <p:cNvPr id="14" name="Shape 9"/>
          <p:cNvSpPr/>
          <p:nvPr/>
        </p:nvSpPr>
        <p:spPr>
          <a:xfrm>
            <a:off x="4886325" y="3596432"/>
            <a:ext cx="500063" cy="7144"/>
          </a:xfrm>
          <a:prstGeom prst="rect">
            <a:avLst/>
          </a:prstGeom>
          <a:solidFill>
            <a:srgbClr val="D4AF37"/>
          </a:solidFill>
          <a:ln/>
        </p:spPr>
        <p:txBody>
          <a:bodyPr/>
          <a:lstStyle/>
          <a:p>
            <a:endParaRPr lang="en-ZA"/>
          </a:p>
        </p:txBody>
      </p:sp>
      <p:pic>
        <p:nvPicPr>
          <p:cNvPr id="15" name="Image 2" descr="preencoded.png"/>
          <p:cNvPicPr>
            <a:picLocks noChangeAspect="1"/>
          </p:cNvPicPr>
          <p:nvPr/>
        </p:nvPicPr>
        <p:blipFill>
          <a:blip r:embed="rId5"/>
          <a:stretch>
            <a:fillRect/>
          </a:stretch>
        </p:blipFill>
        <p:spPr>
          <a:xfrm>
            <a:off x="5079206" y="3296394"/>
            <a:ext cx="114300" cy="114300"/>
          </a:xfrm>
          <a:prstGeom prst="rect">
            <a:avLst/>
          </a:prstGeom>
        </p:spPr>
      </p:pic>
      <p:sp>
        <p:nvSpPr>
          <p:cNvPr id="16" name="Shape 10"/>
          <p:cNvSpPr/>
          <p:nvPr/>
        </p:nvSpPr>
        <p:spPr>
          <a:xfrm>
            <a:off x="5386388" y="3107085"/>
            <a:ext cx="957569" cy="496491"/>
          </a:xfrm>
          <a:prstGeom prst="rect">
            <a:avLst/>
          </a:prstGeom>
          <a:solidFill>
            <a:srgbClr val="FFFFFF"/>
          </a:solidFill>
          <a:ln/>
        </p:spPr>
        <p:txBody>
          <a:bodyPr/>
          <a:lstStyle/>
          <a:p>
            <a:endParaRPr lang="en-ZA"/>
          </a:p>
        </p:txBody>
      </p:sp>
      <p:sp>
        <p:nvSpPr>
          <p:cNvPr id="17" name="Shape 11"/>
          <p:cNvSpPr/>
          <p:nvPr/>
        </p:nvSpPr>
        <p:spPr>
          <a:xfrm>
            <a:off x="5386388" y="3596432"/>
            <a:ext cx="957569" cy="7144"/>
          </a:xfrm>
          <a:prstGeom prst="rect">
            <a:avLst/>
          </a:prstGeom>
          <a:solidFill>
            <a:srgbClr val="D4AF37"/>
          </a:solidFill>
          <a:ln/>
        </p:spPr>
        <p:txBody>
          <a:bodyPr/>
          <a:lstStyle/>
          <a:p>
            <a:endParaRPr lang="en-ZA"/>
          </a:p>
        </p:txBody>
      </p:sp>
      <p:sp>
        <p:nvSpPr>
          <p:cNvPr id="18" name="Text 12"/>
          <p:cNvSpPr/>
          <p:nvPr/>
        </p:nvSpPr>
        <p:spPr>
          <a:xfrm>
            <a:off x="5493544" y="3285679"/>
            <a:ext cx="714375" cy="139303"/>
          </a:xfrm>
          <a:prstGeom prst="rect">
            <a:avLst/>
          </a:prstGeom>
          <a:noFill/>
          <a:ln/>
        </p:spPr>
        <p:txBody>
          <a:bodyPr wrap="none" lIns="0" tIns="0" rIns="0" bIns="0" rtlCol="0" anchor="t">
            <a:spAutoFit/>
          </a:bodyPr>
          <a:lstStyle/>
          <a:p>
            <a:pPr marL="0" indent="0" algn="l">
              <a:buNone/>
            </a:pPr>
            <a:r>
              <a:rPr lang="en-US" sz="800" b="1" dirty="0">
                <a:solidFill>
                  <a:srgbClr val="2C2C2C"/>
                </a:solidFill>
                <a:latin typeface="Montserrat Bold" pitchFamily="34" charset="0"/>
                <a:ea typeface="Montserrat Bold" pitchFamily="34" charset="-122"/>
                <a:cs typeface="Montserrat Bold" pitchFamily="34" charset="-120"/>
              </a:rPr>
              <a:t>Gesondheid</a:t>
            </a:r>
            <a:endParaRPr lang="en-US" sz="800" dirty="0"/>
          </a:p>
        </p:txBody>
      </p:sp>
      <p:sp>
        <p:nvSpPr>
          <p:cNvPr id="19" name="Shape 13"/>
          <p:cNvSpPr/>
          <p:nvPr/>
        </p:nvSpPr>
        <p:spPr>
          <a:xfrm>
            <a:off x="6343957" y="3107085"/>
            <a:ext cx="2085668" cy="496491"/>
          </a:xfrm>
          <a:prstGeom prst="rect">
            <a:avLst/>
          </a:prstGeom>
          <a:solidFill>
            <a:srgbClr val="FFFFFF"/>
          </a:solidFill>
          <a:ln/>
        </p:spPr>
        <p:txBody>
          <a:bodyPr/>
          <a:lstStyle/>
          <a:p>
            <a:endParaRPr lang="en-ZA"/>
          </a:p>
        </p:txBody>
      </p:sp>
      <p:sp>
        <p:nvSpPr>
          <p:cNvPr id="20" name="Shape 14"/>
          <p:cNvSpPr/>
          <p:nvPr/>
        </p:nvSpPr>
        <p:spPr>
          <a:xfrm>
            <a:off x="6343957" y="3596432"/>
            <a:ext cx="2085668" cy="7144"/>
          </a:xfrm>
          <a:prstGeom prst="rect">
            <a:avLst/>
          </a:prstGeom>
          <a:solidFill>
            <a:srgbClr val="D4AF37"/>
          </a:solidFill>
          <a:ln/>
        </p:spPr>
        <p:txBody>
          <a:bodyPr/>
          <a:lstStyle/>
          <a:p>
            <a:endParaRPr lang="en-ZA"/>
          </a:p>
        </p:txBody>
      </p:sp>
      <p:sp>
        <p:nvSpPr>
          <p:cNvPr id="21" name="Text 15"/>
          <p:cNvSpPr/>
          <p:nvPr/>
        </p:nvSpPr>
        <p:spPr>
          <a:xfrm>
            <a:off x="6343957" y="3107085"/>
            <a:ext cx="2085668" cy="496491"/>
          </a:xfrm>
          <a:prstGeom prst="rect">
            <a:avLst/>
          </a:prstGeom>
          <a:noFill/>
          <a:ln/>
        </p:spPr>
        <p:txBody>
          <a:bodyPr wrap="square" lIns="127508" tIns="127508" rIns="127508" bIns="127508" rtlCol="0" anchor="ctr">
            <a:spAutoFit/>
          </a:bodyPr>
          <a:lstStyle/>
          <a:p>
            <a:pPr marL="0" indent="0" algn="l">
              <a:buNone/>
            </a:pPr>
            <a:r>
              <a:rPr lang="en-US" sz="850" dirty="0">
                <a:solidFill>
                  <a:srgbClr val="2C2C2C"/>
                </a:solidFill>
                <a:latin typeface="Montserrat" pitchFamily="34" charset="0"/>
                <a:ea typeface="Montserrat" pitchFamily="34" charset="-122"/>
                <a:cs typeface="Montserrat" pitchFamily="34" charset="-120"/>
              </a:rPr>
              <a:t>Skedulering van entings en mediese ondersoeke.</a:t>
            </a:r>
            <a:endParaRPr lang="en-US" sz="850" dirty="0"/>
          </a:p>
        </p:txBody>
      </p:sp>
      <p:sp>
        <p:nvSpPr>
          <p:cNvPr id="22" name="Shape 16"/>
          <p:cNvSpPr/>
          <p:nvPr/>
        </p:nvSpPr>
        <p:spPr>
          <a:xfrm>
            <a:off x="4886325" y="3600004"/>
            <a:ext cx="500063" cy="496491"/>
          </a:xfrm>
          <a:prstGeom prst="rect">
            <a:avLst/>
          </a:prstGeom>
          <a:solidFill>
            <a:srgbClr val="FFFFFF"/>
          </a:solidFill>
          <a:ln/>
        </p:spPr>
        <p:txBody>
          <a:bodyPr/>
          <a:lstStyle/>
          <a:p>
            <a:endParaRPr lang="en-ZA"/>
          </a:p>
        </p:txBody>
      </p:sp>
      <p:sp>
        <p:nvSpPr>
          <p:cNvPr id="23" name="Shape 17"/>
          <p:cNvSpPr/>
          <p:nvPr/>
        </p:nvSpPr>
        <p:spPr>
          <a:xfrm>
            <a:off x="4886325" y="4089350"/>
            <a:ext cx="500063" cy="7144"/>
          </a:xfrm>
          <a:prstGeom prst="rect">
            <a:avLst/>
          </a:prstGeom>
          <a:solidFill>
            <a:srgbClr val="D4AF37"/>
          </a:solidFill>
          <a:ln/>
        </p:spPr>
        <p:txBody>
          <a:bodyPr/>
          <a:lstStyle/>
          <a:p>
            <a:endParaRPr lang="en-ZA"/>
          </a:p>
        </p:txBody>
      </p:sp>
      <p:pic>
        <p:nvPicPr>
          <p:cNvPr id="24" name="Image 3" descr="preencoded.png"/>
          <p:cNvPicPr>
            <a:picLocks noChangeAspect="1"/>
          </p:cNvPicPr>
          <p:nvPr/>
        </p:nvPicPr>
        <p:blipFill>
          <a:blip r:embed="rId6"/>
          <a:stretch>
            <a:fillRect/>
          </a:stretch>
        </p:blipFill>
        <p:spPr>
          <a:xfrm>
            <a:off x="5079206" y="3789313"/>
            <a:ext cx="114300" cy="114300"/>
          </a:xfrm>
          <a:prstGeom prst="rect">
            <a:avLst/>
          </a:prstGeom>
        </p:spPr>
      </p:pic>
      <p:sp>
        <p:nvSpPr>
          <p:cNvPr id="25" name="Shape 18"/>
          <p:cNvSpPr/>
          <p:nvPr/>
        </p:nvSpPr>
        <p:spPr>
          <a:xfrm>
            <a:off x="5386388" y="3600004"/>
            <a:ext cx="957569" cy="496491"/>
          </a:xfrm>
          <a:prstGeom prst="rect">
            <a:avLst/>
          </a:prstGeom>
          <a:solidFill>
            <a:srgbClr val="FFFFFF"/>
          </a:solidFill>
          <a:ln/>
        </p:spPr>
        <p:txBody>
          <a:bodyPr/>
          <a:lstStyle/>
          <a:p>
            <a:endParaRPr lang="en-ZA"/>
          </a:p>
        </p:txBody>
      </p:sp>
      <p:sp>
        <p:nvSpPr>
          <p:cNvPr id="26" name="Shape 19"/>
          <p:cNvSpPr/>
          <p:nvPr/>
        </p:nvSpPr>
        <p:spPr>
          <a:xfrm>
            <a:off x="5386388" y="4089350"/>
            <a:ext cx="957569" cy="7144"/>
          </a:xfrm>
          <a:prstGeom prst="rect">
            <a:avLst/>
          </a:prstGeom>
          <a:solidFill>
            <a:srgbClr val="D4AF37"/>
          </a:solidFill>
          <a:ln/>
        </p:spPr>
        <p:txBody>
          <a:bodyPr/>
          <a:lstStyle/>
          <a:p>
            <a:endParaRPr lang="en-ZA"/>
          </a:p>
        </p:txBody>
      </p:sp>
      <p:sp>
        <p:nvSpPr>
          <p:cNvPr id="27" name="Text 20"/>
          <p:cNvSpPr/>
          <p:nvPr/>
        </p:nvSpPr>
        <p:spPr>
          <a:xfrm>
            <a:off x="5493544" y="3778597"/>
            <a:ext cx="601861" cy="139303"/>
          </a:xfrm>
          <a:prstGeom prst="rect">
            <a:avLst/>
          </a:prstGeom>
          <a:noFill/>
          <a:ln/>
        </p:spPr>
        <p:txBody>
          <a:bodyPr wrap="none" lIns="0" tIns="0" rIns="0" bIns="0" rtlCol="0" anchor="t">
            <a:spAutoFit/>
          </a:bodyPr>
          <a:lstStyle/>
          <a:p>
            <a:pPr marL="0" indent="0" algn="l">
              <a:buNone/>
            </a:pPr>
            <a:r>
              <a:rPr lang="en-US" sz="800" b="1" dirty="0">
                <a:solidFill>
                  <a:srgbClr val="2C2C2C"/>
                </a:solidFill>
                <a:latin typeface="Montserrat Bold" pitchFamily="34" charset="0"/>
                <a:ea typeface="Montserrat Bold" pitchFamily="34" charset="-122"/>
                <a:cs typeface="Montserrat Bold" pitchFamily="34" charset="-120"/>
              </a:rPr>
              <a:t>Produksie</a:t>
            </a:r>
            <a:endParaRPr lang="en-US" sz="800" dirty="0"/>
          </a:p>
        </p:txBody>
      </p:sp>
      <p:sp>
        <p:nvSpPr>
          <p:cNvPr id="28" name="Shape 21"/>
          <p:cNvSpPr/>
          <p:nvPr/>
        </p:nvSpPr>
        <p:spPr>
          <a:xfrm>
            <a:off x="6343957" y="3600004"/>
            <a:ext cx="2085668" cy="496491"/>
          </a:xfrm>
          <a:prstGeom prst="rect">
            <a:avLst/>
          </a:prstGeom>
          <a:solidFill>
            <a:srgbClr val="FFFFFF"/>
          </a:solidFill>
          <a:ln/>
        </p:spPr>
        <p:txBody>
          <a:bodyPr/>
          <a:lstStyle/>
          <a:p>
            <a:endParaRPr lang="en-ZA"/>
          </a:p>
        </p:txBody>
      </p:sp>
      <p:sp>
        <p:nvSpPr>
          <p:cNvPr id="29" name="Shape 22"/>
          <p:cNvSpPr/>
          <p:nvPr/>
        </p:nvSpPr>
        <p:spPr>
          <a:xfrm>
            <a:off x="6343957" y="4089350"/>
            <a:ext cx="2085668" cy="7144"/>
          </a:xfrm>
          <a:prstGeom prst="rect">
            <a:avLst/>
          </a:prstGeom>
          <a:solidFill>
            <a:srgbClr val="D4AF37"/>
          </a:solidFill>
          <a:ln/>
        </p:spPr>
        <p:txBody>
          <a:bodyPr/>
          <a:lstStyle/>
          <a:p>
            <a:endParaRPr lang="en-ZA"/>
          </a:p>
        </p:txBody>
      </p:sp>
      <p:sp>
        <p:nvSpPr>
          <p:cNvPr id="30" name="Text 23"/>
          <p:cNvSpPr/>
          <p:nvPr/>
        </p:nvSpPr>
        <p:spPr>
          <a:xfrm>
            <a:off x="6343957" y="3600004"/>
            <a:ext cx="2085668" cy="496491"/>
          </a:xfrm>
          <a:prstGeom prst="rect">
            <a:avLst/>
          </a:prstGeom>
          <a:noFill/>
          <a:ln/>
        </p:spPr>
        <p:txBody>
          <a:bodyPr wrap="square" lIns="127508" tIns="127508" rIns="127508" bIns="127508" rtlCol="0" anchor="ctr">
            <a:spAutoFit/>
          </a:bodyPr>
          <a:lstStyle/>
          <a:p>
            <a:pPr marL="0" indent="0" algn="l">
              <a:buNone/>
            </a:pPr>
            <a:r>
              <a:rPr lang="en-US" sz="850" dirty="0">
                <a:solidFill>
                  <a:srgbClr val="2C2C2C"/>
                </a:solidFill>
                <a:latin typeface="Montserrat" pitchFamily="34" charset="0"/>
                <a:ea typeface="Montserrat" pitchFamily="34" charset="-122"/>
                <a:cs typeface="Montserrat" pitchFamily="34" charset="-120"/>
              </a:rPr>
              <a:t>Beplanning van skeer-seisoene en wol-insameling.</a:t>
            </a:r>
            <a:endParaRPr lang="en-US" sz="850" dirty="0"/>
          </a:p>
        </p:txBody>
      </p:sp>
      <p:sp>
        <p:nvSpPr>
          <p:cNvPr id="31" name="Shape 24"/>
          <p:cNvSpPr/>
          <p:nvPr/>
        </p:nvSpPr>
        <p:spPr>
          <a:xfrm>
            <a:off x="4886325" y="4092922"/>
            <a:ext cx="500063" cy="496491"/>
          </a:xfrm>
          <a:prstGeom prst="rect">
            <a:avLst/>
          </a:prstGeom>
          <a:solidFill>
            <a:srgbClr val="FFFFFF"/>
          </a:solidFill>
          <a:ln/>
        </p:spPr>
        <p:txBody>
          <a:bodyPr/>
          <a:lstStyle/>
          <a:p>
            <a:endParaRPr lang="en-ZA"/>
          </a:p>
        </p:txBody>
      </p:sp>
      <p:sp>
        <p:nvSpPr>
          <p:cNvPr id="32" name="Shape 25"/>
          <p:cNvSpPr/>
          <p:nvPr/>
        </p:nvSpPr>
        <p:spPr>
          <a:xfrm>
            <a:off x="4886325" y="4582269"/>
            <a:ext cx="500063" cy="7144"/>
          </a:xfrm>
          <a:prstGeom prst="rect">
            <a:avLst/>
          </a:prstGeom>
          <a:solidFill>
            <a:srgbClr val="D4AF37"/>
          </a:solidFill>
          <a:ln/>
        </p:spPr>
        <p:txBody>
          <a:bodyPr/>
          <a:lstStyle/>
          <a:p>
            <a:endParaRPr lang="en-ZA"/>
          </a:p>
        </p:txBody>
      </p:sp>
      <p:pic>
        <p:nvPicPr>
          <p:cNvPr id="33" name="Image 4" descr="preencoded.png"/>
          <p:cNvPicPr>
            <a:picLocks noChangeAspect="1"/>
          </p:cNvPicPr>
          <p:nvPr/>
        </p:nvPicPr>
        <p:blipFill>
          <a:blip r:embed="rId7"/>
          <a:stretch>
            <a:fillRect/>
          </a:stretch>
        </p:blipFill>
        <p:spPr>
          <a:xfrm>
            <a:off x="5086350" y="4282232"/>
            <a:ext cx="100013" cy="114300"/>
          </a:xfrm>
          <a:prstGeom prst="rect">
            <a:avLst/>
          </a:prstGeom>
        </p:spPr>
      </p:pic>
      <p:sp>
        <p:nvSpPr>
          <p:cNvPr id="34" name="Shape 26"/>
          <p:cNvSpPr/>
          <p:nvPr/>
        </p:nvSpPr>
        <p:spPr>
          <a:xfrm>
            <a:off x="5386388" y="4092922"/>
            <a:ext cx="957569" cy="496491"/>
          </a:xfrm>
          <a:prstGeom prst="rect">
            <a:avLst/>
          </a:prstGeom>
          <a:solidFill>
            <a:srgbClr val="FFFFFF"/>
          </a:solidFill>
          <a:ln/>
        </p:spPr>
        <p:txBody>
          <a:bodyPr/>
          <a:lstStyle/>
          <a:p>
            <a:endParaRPr lang="en-ZA"/>
          </a:p>
        </p:txBody>
      </p:sp>
      <p:sp>
        <p:nvSpPr>
          <p:cNvPr id="35" name="Shape 27"/>
          <p:cNvSpPr/>
          <p:nvPr/>
        </p:nvSpPr>
        <p:spPr>
          <a:xfrm>
            <a:off x="5386388" y="4582269"/>
            <a:ext cx="957569" cy="7144"/>
          </a:xfrm>
          <a:prstGeom prst="rect">
            <a:avLst/>
          </a:prstGeom>
          <a:solidFill>
            <a:srgbClr val="D4AF37"/>
          </a:solidFill>
          <a:ln/>
        </p:spPr>
        <p:txBody>
          <a:bodyPr/>
          <a:lstStyle/>
          <a:p>
            <a:endParaRPr lang="en-ZA"/>
          </a:p>
        </p:txBody>
      </p:sp>
      <p:sp>
        <p:nvSpPr>
          <p:cNvPr id="36" name="Text 28"/>
          <p:cNvSpPr/>
          <p:nvPr/>
        </p:nvSpPr>
        <p:spPr>
          <a:xfrm>
            <a:off x="5493544" y="4271516"/>
            <a:ext cx="666155" cy="139303"/>
          </a:xfrm>
          <a:prstGeom prst="rect">
            <a:avLst/>
          </a:prstGeom>
          <a:noFill/>
          <a:ln/>
        </p:spPr>
        <p:txBody>
          <a:bodyPr wrap="none" lIns="0" tIns="0" rIns="0" bIns="0" rtlCol="0" anchor="t">
            <a:spAutoFit/>
          </a:bodyPr>
          <a:lstStyle/>
          <a:p>
            <a:pPr marL="0" indent="0" algn="l">
              <a:buNone/>
            </a:pPr>
            <a:r>
              <a:rPr lang="en-US" sz="800" b="1" dirty="0">
                <a:solidFill>
                  <a:srgbClr val="2C2C2C"/>
                </a:solidFill>
                <a:latin typeface="Montserrat Bold" pitchFamily="34" charset="0"/>
                <a:ea typeface="Montserrat Bold" pitchFamily="34" charset="-122"/>
                <a:cs typeface="Montserrat Bold" pitchFamily="34" charset="-120"/>
              </a:rPr>
              <a:t>Bemarking</a:t>
            </a:r>
            <a:endParaRPr lang="en-US" sz="800" dirty="0"/>
          </a:p>
        </p:txBody>
      </p:sp>
      <p:sp>
        <p:nvSpPr>
          <p:cNvPr id="37" name="Shape 29"/>
          <p:cNvSpPr/>
          <p:nvPr/>
        </p:nvSpPr>
        <p:spPr>
          <a:xfrm>
            <a:off x="6343957" y="4092922"/>
            <a:ext cx="2085668" cy="496491"/>
          </a:xfrm>
          <a:prstGeom prst="rect">
            <a:avLst/>
          </a:prstGeom>
          <a:solidFill>
            <a:srgbClr val="FFFFFF"/>
          </a:solidFill>
          <a:ln/>
        </p:spPr>
        <p:txBody>
          <a:bodyPr/>
          <a:lstStyle/>
          <a:p>
            <a:endParaRPr lang="en-ZA"/>
          </a:p>
        </p:txBody>
      </p:sp>
      <p:sp>
        <p:nvSpPr>
          <p:cNvPr id="38" name="Shape 30"/>
          <p:cNvSpPr/>
          <p:nvPr/>
        </p:nvSpPr>
        <p:spPr>
          <a:xfrm>
            <a:off x="6343957" y="4582269"/>
            <a:ext cx="2085668" cy="7144"/>
          </a:xfrm>
          <a:prstGeom prst="rect">
            <a:avLst/>
          </a:prstGeom>
          <a:solidFill>
            <a:srgbClr val="D4AF37"/>
          </a:solidFill>
          <a:ln/>
        </p:spPr>
        <p:txBody>
          <a:bodyPr/>
          <a:lstStyle/>
          <a:p>
            <a:endParaRPr lang="en-ZA"/>
          </a:p>
        </p:txBody>
      </p:sp>
      <p:sp>
        <p:nvSpPr>
          <p:cNvPr id="39" name="Text 31"/>
          <p:cNvSpPr/>
          <p:nvPr/>
        </p:nvSpPr>
        <p:spPr>
          <a:xfrm>
            <a:off x="6343957" y="4092922"/>
            <a:ext cx="2085668" cy="496491"/>
          </a:xfrm>
          <a:prstGeom prst="rect">
            <a:avLst/>
          </a:prstGeom>
          <a:noFill/>
          <a:ln/>
        </p:spPr>
        <p:txBody>
          <a:bodyPr wrap="square" lIns="127508" tIns="127508" rIns="127508" bIns="127508" rtlCol="0" anchor="ctr">
            <a:spAutoFit/>
          </a:bodyPr>
          <a:lstStyle/>
          <a:p>
            <a:pPr marL="0" indent="0" algn="l">
              <a:buNone/>
            </a:pPr>
            <a:r>
              <a:rPr lang="en-US" sz="850" dirty="0">
                <a:solidFill>
                  <a:srgbClr val="2C2C2C"/>
                </a:solidFill>
                <a:latin typeface="Montserrat" pitchFamily="34" charset="0"/>
                <a:ea typeface="Montserrat" pitchFamily="34" charset="-122"/>
                <a:cs typeface="Montserrat" pitchFamily="34" charset="-120"/>
              </a:rPr>
              <a:t>Datums vir veilings en produk-lewerings.</a:t>
            </a:r>
            <a:endParaRPr lang="en-US" sz="850" dirty="0"/>
          </a:p>
        </p:txBody>
      </p:sp>
      <p:sp>
        <p:nvSpPr>
          <p:cNvPr id="2" name="Shape 1">
            <a:extLst>
              <a:ext uri="{FF2B5EF4-FFF2-40B4-BE49-F238E27FC236}">
                <a16:creationId xmlns:a16="http://schemas.microsoft.com/office/drawing/2014/main" id="{EB771869-38AF-9576-3CF6-BB8A7359ADB3}"/>
              </a:ext>
            </a:extLst>
          </p:cNvPr>
          <p:cNvSpPr/>
          <p:nvPr/>
        </p:nvSpPr>
        <p:spPr>
          <a:xfrm>
            <a:off x="571500" y="805457"/>
            <a:ext cx="8429625" cy="14288"/>
          </a:xfrm>
          <a:prstGeom prst="rect">
            <a:avLst/>
          </a:prstGeom>
          <a:solidFill>
            <a:srgbClr val="D4AF37"/>
          </a:solidFill>
          <a:ln/>
        </p:spPr>
        <p:txBody>
          <a:bodyPr/>
          <a:lstStyle/>
          <a:p>
            <a:endParaRPr lang="en-ZA"/>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571500" y="571500"/>
            <a:ext cx="8572500" cy="366117"/>
          </a:xfrm>
          <a:prstGeom prst="rect">
            <a:avLst/>
          </a:prstGeom>
          <a:noFill/>
          <a:ln/>
        </p:spPr>
        <p:txBody>
          <a:bodyPr wrap="square" lIns="0" tIns="0" rIns="0" bIns="0" rtlCol="0" anchor="t">
            <a:spAutoFit/>
          </a:bodyPr>
          <a:lstStyle/>
          <a:p>
            <a:pPr marL="0" indent="0" algn="l">
              <a:buNone/>
            </a:pPr>
            <a:r>
              <a:rPr lang="en-US" sz="2100" b="1" dirty="0">
                <a:solidFill>
                  <a:srgbClr val="1B3022"/>
                </a:solidFill>
                <a:latin typeface="Montserrat Bold" pitchFamily="34" charset="0"/>
                <a:ea typeface="Montserrat Bold" pitchFamily="34" charset="-122"/>
                <a:cs typeface="Montserrat Bold" pitchFamily="34" charset="-120"/>
              </a:rPr>
              <a:t>Bewese Responsiwiteit op Alle Toestelle</a:t>
            </a:r>
            <a:endParaRPr lang="en-US" sz="2100" dirty="0"/>
          </a:p>
        </p:txBody>
      </p:sp>
      <p:pic>
        <p:nvPicPr>
          <p:cNvPr id="5" name="Image 1" descr="preencoded.png"/>
          <p:cNvPicPr>
            <a:picLocks noChangeAspect="1"/>
          </p:cNvPicPr>
          <p:nvPr/>
        </p:nvPicPr>
        <p:blipFill>
          <a:blip r:embed="rId4"/>
          <a:stretch>
            <a:fillRect/>
          </a:stretch>
        </p:blipFill>
        <p:spPr>
          <a:xfrm>
            <a:off x="1640663" y="1569839"/>
            <a:ext cx="385763" cy="342900"/>
          </a:xfrm>
          <a:prstGeom prst="rect">
            <a:avLst/>
          </a:prstGeom>
        </p:spPr>
      </p:pic>
      <p:sp>
        <p:nvSpPr>
          <p:cNvPr id="6" name="Text 1"/>
          <p:cNvSpPr/>
          <p:nvPr/>
        </p:nvSpPr>
        <p:spPr>
          <a:xfrm>
            <a:off x="1190606" y="2219920"/>
            <a:ext cx="1285875" cy="191095"/>
          </a:xfrm>
          <a:prstGeom prst="rect">
            <a:avLst/>
          </a:prstGeom>
          <a:noFill/>
          <a:ln/>
        </p:spPr>
        <p:txBody>
          <a:bodyPr wrap="none" lIns="0" tIns="0" rIns="0" bIns="0" rtlCol="0" anchor="t">
            <a:spAutoFit/>
          </a:bodyPr>
          <a:lstStyle/>
          <a:p>
            <a:pPr marL="0" indent="0" algn="ctr">
              <a:buNone/>
            </a:pPr>
            <a:r>
              <a:rPr lang="en-US" sz="1100" b="1" dirty="0">
                <a:solidFill>
                  <a:srgbClr val="1B3022"/>
                </a:solidFill>
                <a:latin typeface="Montserrat Bold" pitchFamily="34" charset="0"/>
                <a:ea typeface="Montserrat Bold" pitchFamily="34" charset="-122"/>
                <a:cs typeface="Montserrat Bold" pitchFamily="34" charset="-120"/>
              </a:rPr>
              <a:t>Desktop Oorsig</a:t>
            </a:r>
            <a:endParaRPr lang="en-US" sz="1100" dirty="0"/>
          </a:p>
        </p:txBody>
      </p:sp>
      <p:sp>
        <p:nvSpPr>
          <p:cNvPr id="7" name="Text 2"/>
          <p:cNvSpPr/>
          <p:nvPr/>
        </p:nvSpPr>
        <p:spPr>
          <a:xfrm>
            <a:off x="1323408" y="2482453"/>
            <a:ext cx="1020301" cy="114300"/>
          </a:xfrm>
          <a:prstGeom prst="rect">
            <a:avLst/>
          </a:prstGeom>
          <a:noFill/>
          <a:ln/>
        </p:spPr>
        <p:txBody>
          <a:bodyPr wrap="none" lIns="0" tIns="0" rIns="0" bIns="0" rtlCol="0" anchor="t">
            <a:spAutoFit/>
          </a:bodyPr>
          <a:lstStyle/>
          <a:p>
            <a:pPr marL="0" indent="0" algn="ctr">
              <a:buNone/>
            </a:pPr>
            <a:r>
              <a:rPr lang="en-US" sz="700" b="1" dirty="0">
                <a:solidFill>
                  <a:srgbClr val="D4AF37"/>
                </a:solidFill>
                <a:latin typeface="Courier New" pitchFamily="34" charset="0"/>
                <a:ea typeface="Courier New" pitchFamily="34" charset="-122"/>
                <a:cs typeface="Courier New" pitchFamily="34" charset="-120"/>
              </a:rPr>
              <a:t>Rekenaarskerm.mp4</a:t>
            </a:r>
            <a:endParaRPr lang="en-US" sz="700" dirty="0"/>
          </a:p>
        </p:txBody>
      </p:sp>
      <p:sp>
        <p:nvSpPr>
          <p:cNvPr id="8" name="Text 3"/>
          <p:cNvSpPr/>
          <p:nvPr/>
        </p:nvSpPr>
        <p:spPr>
          <a:xfrm>
            <a:off x="571500" y="2818209"/>
            <a:ext cx="2524116" cy="514350"/>
          </a:xfrm>
          <a:prstGeom prst="rect">
            <a:avLst/>
          </a:prstGeom>
          <a:noFill/>
          <a:ln/>
        </p:spPr>
        <p:txBody>
          <a:bodyPr wrap="square" lIns="0" tIns="0" rIns="0" bIns="0" rtlCol="0" anchor="t">
            <a:spAutoFit/>
          </a:bodyPr>
          <a:lstStyle/>
          <a:p>
            <a:pPr marL="0" indent="0" algn="ctr">
              <a:lnSpc>
                <a:spcPct val="120000"/>
              </a:lnSpc>
              <a:buNone/>
            </a:pPr>
            <a:r>
              <a:rPr lang="en-US" sz="850" dirty="0">
                <a:solidFill>
                  <a:srgbClr val="555555"/>
                </a:solidFill>
                <a:latin typeface="Montserrat" pitchFamily="34" charset="0"/>
                <a:ea typeface="Montserrat" pitchFamily="34" charset="-122"/>
                <a:cs typeface="Montserrat" pitchFamily="34" charset="-120"/>
              </a:rPr>
              <a:t>Demonstreer die volledige administratiewe paneel en komplekse data-tabelle vir kantoorgebruik.</a:t>
            </a:r>
            <a:endParaRPr lang="en-US" sz="850" dirty="0"/>
          </a:p>
        </p:txBody>
      </p:sp>
      <p:pic>
        <p:nvPicPr>
          <p:cNvPr id="9" name="Image 2" descr="preencoded.png"/>
          <p:cNvPicPr>
            <a:picLocks noChangeAspect="1"/>
          </p:cNvPicPr>
          <p:nvPr/>
        </p:nvPicPr>
        <p:blipFill>
          <a:blip r:embed="rId5"/>
          <a:stretch>
            <a:fillRect/>
          </a:stretch>
        </p:blipFill>
        <p:spPr>
          <a:xfrm>
            <a:off x="4421953" y="1569839"/>
            <a:ext cx="300038" cy="342900"/>
          </a:xfrm>
          <a:prstGeom prst="rect">
            <a:avLst/>
          </a:prstGeom>
        </p:spPr>
      </p:pic>
      <p:sp>
        <p:nvSpPr>
          <p:cNvPr id="10" name="Text 4"/>
          <p:cNvSpPr/>
          <p:nvPr/>
        </p:nvSpPr>
        <p:spPr>
          <a:xfrm>
            <a:off x="3698649" y="2219920"/>
            <a:ext cx="1746647" cy="191095"/>
          </a:xfrm>
          <a:prstGeom prst="rect">
            <a:avLst/>
          </a:prstGeom>
          <a:noFill/>
          <a:ln/>
        </p:spPr>
        <p:txBody>
          <a:bodyPr wrap="square" lIns="0" tIns="0" rIns="0" bIns="0" rtlCol="0" anchor="t">
            <a:spAutoFit/>
          </a:bodyPr>
          <a:lstStyle/>
          <a:p>
            <a:pPr marL="0" indent="0" algn="ctr">
              <a:buNone/>
            </a:pPr>
            <a:r>
              <a:rPr lang="en-US" sz="1100" b="1" dirty="0">
                <a:solidFill>
                  <a:srgbClr val="1B3022"/>
                </a:solidFill>
                <a:latin typeface="Montserrat Bold" pitchFamily="34" charset="0"/>
                <a:ea typeface="Montserrat Bold" pitchFamily="34" charset="-122"/>
                <a:cs typeface="Montserrat Bold" pitchFamily="34" charset="-120"/>
              </a:rPr>
              <a:t>Tablet Buigsaamheid</a:t>
            </a:r>
            <a:endParaRPr lang="en-US" sz="1100" dirty="0"/>
          </a:p>
        </p:txBody>
      </p:sp>
      <p:sp>
        <p:nvSpPr>
          <p:cNvPr id="11" name="Text 5"/>
          <p:cNvSpPr/>
          <p:nvPr/>
        </p:nvSpPr>
        <p:spPr>
          <a:xfrm>
            <a:off x="4121832" y="2482453"/>
            <a:ext cx="900280" cy="114300"/>
          </a:xfrm>
          <a:prstGeom prst="rect">
            <a:avLst/>
          </a:prstGeom>
          <a:noFill/>
          <a:ln/>
        </p:spPr>
        <p:txBody>
          <a:bodyPr wrap="none" lIns="0" tIns="0" rIns="0" bIns="0" rtlCol="0" anchor="t">
            <a:spAutoFit/>
          </a:bodyPr>
          <a:lstStyle/>
          <a:p>
            <a:pPr marL="0" indent="0" algn="ctr">
              <a:buNone/>
            </a:pPr>
            <a:r>
              <a:rPr lang="en-US" sz="700" b="1" dirty="0">
                <a:solidFill>
                  <a:srgbClr val="D4AF37"/>
                </a:solidFill>
                <a:latin typeface="Courier New" pitchFamily="34" charset="0"/>
                <a:ea typeface="Courier New" pitchFamily="34" charset="-122"/>
                <a:cs typeface="Courier New" pitchFamily="34" charset="-120"/>
              </a:rPr>
              <a:t>Tabletskerm.mp4</a:t>
            </a:r>
            <a:endParaRPr lang="en-US" sz="700" dirty="0"/>
          </a:p>
        </p:txBody>
      </p:sp>
      <p:sp>
        <p:nvSpPr>
          <p:cNvPr id="12" name="Text 6"/>
          <p:cNvSpPr/>
          <p:nvPr/>
        </p:nvSpPr>
        <p:spPr>
          <a:xfrm>
            <a:off x="3309928" y="2818209"/>
            <a:ext cx="2524116" cy="514350"/>
          </a:xfrm>
          <a:prstGeom prst="rect">
            <a:avLst/>
          </a:prstGeom>
          <a:noFill/>
          <a:ln/>
        </p:spPr>
        <p:txBody>
          <a:bodyPr wrap="square" lIns="0" tIns="0" rIns="0" bIns="0" rtlCol="0" anchor="t">
            <a:spAutoFit/>
          </a:bodyPr>
          <a:lstStyle/>
          <a:p>
            <a:pPr marL="0" indent="0" algn="ctr">
              <a:lnSpc>
                <a:spcPct val="120000"/>
              </a:lnSpc>
              <a:buNone/>
            </a:pPr>
            <a:r>
              <a:rPr lang="en-US" sz="850" dirty="0">
                <a:solidFill>
                  <a:srgbClr val="555555"/>
                </a:solidFill>
                <a:latin typeface="Montserrat" pitchFamily="34" charset="0"/>
                <a:ea typeface="Montserrat" pitchFamily="34" charset="-122"/>
                <a:cs typeface="Montserrat" pitchFamily="34" charset="-120"/>
              </a:rPr>
              <a:t>Wys die aanpasbare roosteruitleg wat optimale gebruik van skermspasie op draagbare toestelle maak.</a:t>
            </a:r>
            <a:endParaRPr lang="en-US" sz="850" dirty="0"/>
          </a:p>
        </p:txBody>
      </p:sp>
      <p:pic>
        <p:nvPicPr>
          <p:cNvPr id="13" name="Image 3" descr="preencoded.png"/>
          <p:cNvPicPr>
            <a:picLocks noChangeAspect="1"/>
          </p:cNvPicPr>
          <p:nvPr/>
        </p:nvPicPr>
        <p:blipFill>
          <a:blip r:embed="rId6"/>
          <a:stretch>
            <a:fillRect/>
          </a:stretch>
        </p:blipFill>
        <p:spPr>
          <a:xfrm>
            <a:off x="7181841" y="1569839"/>
            <a:ext cx="257175" cy="342900"/>
          </a:xfrm>
          <a:prstGeom prst="rect">
            <a:avLst/>
          </a:prstGeom>
        </p:spPr>
      </p:pic>
      <p:sp>
        <p:nvSpPr>
          <p:cNvPr id="14" name="Text 7"/>
          <p:cNvSpPr/>
          <p:nvPr/>
        </p:nvSpPr>
        <p:spPr>
          <a:xfrm>
            <a:off x="6324591" y="2219920"/>
            <a:ext cx="1971675" cy="191095"/>
          </a:xfrm>
          <a:prstGeom prst="rect">
            <a:avLst/>
          </a:prstGeom>
          <a:noFill/>
          <a:ln/>
        </p:spPr>
        <p:txBody>
          <a:bodyPr wrap="square" lIns="0" tIns="0" rIns="0" bIns="0" rtlCol="0" anchor="t">
            <a:spAutoFit/>
          </a:bodyPr>
          <a:lstStyle/>
          <a:p>
            <a:pPr marL="0" indent="0" algn="ctr">
              <a:buNone/>
            </a:pPr>
            <a:r>
              <a:rPr lang="en-US" sz="1100" b="1" dirty="0">
                <a:solidFill>
                  <a:srgbClr val="1B3022"/>
                </a:solidFill>
                <a:latin typeface="Montserrat Bold" pitchFamily="34" charset="0"/>
                <a:ea typeface="Montserrat Bold" pitchFamily="34" charset="-122"/>
                <a:cs typeface="Montserrat Bold" pitchFamily="34" charset="-120"/>
              </a:rPr>
              <a:t>Mobiele Toeganklikheid</a:t>
            </a:r>
            <a:endParaRPr lang="en-US" sz="1100" dirty="0"/>
          </a:p>
        </p:txBody>
      </p:sp>
      <p:sp>
        <p:nvSpPr>
          <p:cNvPr id="15" name="Text 8"/>
          <p:cNvSpPr/>
          <p:nvPr/>
        </p:nvSpPr>
        <p:spPr>
          <a:xfrm>
            <a:off x="6950311" y="2482453"/>
            <a:ext cx="720207" cy="114300"/>
          </a:xfrm>
          <a:prstGeom prst="rect">
            <a:avLst/>
          </a:prstGeom>
          <a:noFill/>
          <a:ln/>
        </p:spPr>
        <p:txBody>
          <a:bodyPr wrap="none" lIns="0" tIns="0" rIns="0" bIns="0" rtlCol="0" anchor="t">
            <a:spAutoFit/>
          </a:bodyPr>
          <a:lstStyle/>
          <a:p>
            <a:pPr marL="0" indent="0" algn="ctr">
              <a:buNone/>
            </a:pPr>
            <a:r>
              <a:rPr lang="en-US" sz="700" b="1" dirty="0">
                <a:solidFill>
                  <a:srgbClr val="D4AF37"/>
                </a:solidFill>
                <a:latin typeface="Courier New" pitchFamily="34" charset="0"/>
                <a:ea typeface="Courier New" pitchFamily="34" charset="-122"/>
                <a:cs typeface="Courier New" pitchFamily="34" charset="-120"/>
              </a:rPr>
              <a:t>Slimfoon.mp4</a:t>
            </a:r>
            <a:endParaRPr lang="en-US" sz="700" dirty="0"/>
          </a:p>
        </p:txBody>
      </p:sp>
      <p:sp>
        <p:nvSpPr>
          <p:cNvPr id="16" name="Text 9"/>
          <p:cNvSpPr/>
          <p:nvPr/>
        </p:nvSpPr>
        <p:spPr>
          <a:xfrm>
            <a:off x="6048356" y="2818209"/>
            <a:ext cx="2524144" cy="342900"/>
          </a:xfrm>
          <a:prstGeom prst="rect">
            <a:avLst/>
          </a:prstGeom>
          <a:noFill/>
          <a:ln/>
        </p:spPr>
        <p:txBody>
          <a:bodyPr wrap="square" lIns="0" tIns="0" rIns="0" bIns="0" rtlCol="0" anchor="t">
            <a:spAutoFit/>
          </a:bodyPr>
          <a:lstStyle/>
          <a:p>
            <a:pPr marL="0" indent="0" algn="ctr">
              <a:lnSpc>
                <a:spcPct val="120000"/>
              </a:lnSpc>
              <a:buNone/>
            </a:pPr>
            <a:r>
              <a:rPr lang="en-US" sz="850" dirty="0">
                <a:solidFill>
                  <a:srgbClr val="555555"/>
                </a:solidFill>
                <a:latin typeface="Montserrat" pitchFamily="34" charset="0"/>
                <a:ea typeface="Montserrat" pitchFamily="34" charset="-122"/>
                <a:cs typeface="Montserrat" pitchFamily="34" charset="-120"/>
              </a:rPr>
              <a:t>Fokus op die vereenvoudigde navigasie en vinnige aksies vir gebruik direk in die veld.</a:t>
            </a:r>
            <a:endParaRPr lang="en-US" sz="850" dirty="0"/>
          </a:p>
        </p:txBody>
      </p:sp>
      <p:sp>
        <p:nvSpPr>
          <p:cNvPr id="17" name="Shape 10"/>
          <p:cNvSpPr/>
          <p:nvPr/>
        </p:nvSpPr>
        <p:spPr>
          <a:xfrm>
            <a:off x="571500" y="3804047"/>
            <a:ext cx="1619148" cy="375047"/>
          </a:xfrm>
          <a:prstGeom prst="rect">
            <a:avLst/>
          </a:prstGeom>
          <a:solidFill>
            <a:srgbClr val="1B3022"/>
          </a:solidFill>
          <a:ln/>
        </p:spPr>
        <p:txBody>
          <a:bodyPr/>
          <a:lstStyle/>
          <a:p>
            <a:endParaRPr lang="en-ZA"/>
          </a:p>
        </p:txBody>
      </p:sp>
      <p:sp>
        <p:nvSpPr>
          <p:cNvPr id="18" name="Shape 11"/>
          <p:cNvSpPr/>
          <p:nvPr/>
        </p:nvSpPr>
        <p:spPr>
          <a:xfrm>
            <a:off x="571500" y="4171950"/>
            <a:ext cx="1619148" cy="7144"/>
          </a:xfrm>
          <a:prstGeom prst="rect">
            <a:avLst/>
          </a:prstGeom>
          <a:solidFill>
            <a:srgbClr val="DDDDDD"/>
          </a:solidFill>
          <a:ln/>
        </p:spPr>
        <p:txBody>
          <a:bodyPr/>
          <a:lstStyle/>
          <a:p>
            <a:endParaRPr lang="en-ZA"/>
          </a:p>
        </p:txBody>
      </p:sp>
      <p:sp>
        <p:nvSpPr>
          <p:cNvPr id="19" name="Text 12"/>
          <p:cNvSpPr/>
          <p:nvPr/>
        </p:nvSpPr>
        <p:spPr>
          <a:xfrm>
            <a:off x="571500" y="3804047"/>
            <a:ext cx="1619148" cy="375047"/>
          </a:xfrm>
          <a:prstGeom prst="rect">
            <a:avLst/>
          </a:prstGeom>
          <a:noFill/>
          <a:ln/>
        </p:spPr>
        <p:txBody>
          <a:bodyPr wrap="square" lIns="127508" tIns="127508" rIns="127508" bIns="127508" rtlCol="0" anchor="ctr">
            <a:spAutoFit/>
          </a:bodyPr>
          <a:lstStyle/>
          <a:p>
            <a:pPr marL="0" indent="0" algn="l">
              <a:buNone/>
            </a:pPr>
            <a:r>
              <a:rPr lang="en-US" sz="900" b="1" dirty="0">
                <a:solidFill>
                  <a:srgbClr val="D4AF37"/>
                </a:solidFill>
                <a:latin typeface="Montserrat Bold" pitchFamily="34" charset="0"/>
                <a:ea typeface="Montserrat Bold" pitchFamily="34" charset="-122"/>
                <a:cs typeface="Montserrat Bold" pitchFamily="34" charset="-120"/>
              </a:rPr>
              <a:t>Kenmerk</a:t>
            </a:r>
            <a:endParaRPr lang="en-US" sz="900" dirty="0"/>
          </a:p>
        </p:txBody>
      </p:sp>
      <p:sp>
        <p:nvSpPr>
          <p:cNvPr id="20" name="Shape 13"/>
          <p:cNvSpPr/>
          <p:nvPr/>
        </p:nvSpPr>
        <p:spPr>
          <a:xfrm>
            <a:off x="2190648" y="3804047"/>
            <a:ext cx="2720094" cy="375047"/>
          </a:xfrm>
          <a:prstGeom prst="rect">
            <a:avLst/>
          </a:prstGeom>
          <a:solidFill>
            <a:srgbClr val="1B3022"/>
          </a:solidFill>
          <a:ln/>
        </p:spPr>
        <p:txBody>
          <a:bodyPr/>
          <a:lstStyle/>
          <a:p>
            <a:endParaRPr lang="en-ZA"/>
          </a:p>
        </p:txBody>
      </p:sp>
      <p:sp>
        <p:nvSpPr>
          <p:cNvPr id="21" name="Shape 14"/>
          <p:cNvSpPr/>
          <p:nvPr/>
        </p:nvSpPr>
        <p:spPr>
          <a:xfrm>
            <a:off x="2190648" y="4171950"/>
            <a:ext cx="2720094" cy="7144"/>
          </a:xfrm>
          <a:prstGeom prst="rect">
            <a:avLst/>
          </a:prstGeom>
          <a:solidFill>
            <a:srgbClr val="DDDDDD"/>
          </a:solidFill>
          <a:ln/>
        </p:spPr>
        <p:txBody>
          <a:bodyPr/>
          <a:lstStyle/>
          <a:p>
            <a:endParaRPr lang="en-ZA"/>
          </a:p>
        </p:txBody>
      </p:sp>
      <p:sp>
        <p:nvSpPr>
          <p:cNvPr id="22" name="Text 15"/>
          <p:cNvSpPr/>
          <p:nvPr/>
        </p:nvSpPr>
        <p:spPr>
          <a:xfrm>
            <a:off x="2190648" y="3804047"/>
            <a:ext cx="2720094" cy="375047"/>
          </a:xfrm>
          <a:prstGeom prst="rect">
            <a:avLst/>
          </a:prstGeom>
          <a:noFill/>
          <a:ln/>
        </p:spPr>
        <p:txBody>
          <a:bodyPr wrap="square" lIns="127508" tIns="127508" rIns="127508" bIns="127508" rtlCol="0" anchor="ctr">
            <a:spAutoFit/>
          </a:bodyPr>
          <a:lstStyle/>
          <a:p>
            <a:pPr marL="0" indent="0" algn="l">
              <a:buNone/>
            </a:pPr>
            <a:r>
              <a:rPr lang="en-US" sz="900" b="1" dirty="0">
                <a:solidFill>
                  <a:srgbClr val="D4AF37"/>
                </a:solidFill>
                <a:latin typeface="Montserrat Bold" pitchFamily="34" charset="0"/>
                <a:ea typeface="Montserrat Bold" pitchFamily="34" charset="-122"/>
                <a:cs typeface="Montserrat Bold" pitchFamily="34" charset="-120"/>
              </a:rPr>
              <a:t>Tegniese Implementering</a:t>
            </a:r>
            <a:endParaRPr lang="en-US" sz="900" dirty="0"/>
          </a:p>
        </p:txBody>
      </p:sp>
      <p:sp>
        <p:nvSpPr>
          <p:cNvPr id="23" name="Shape 16"/>
          <p:cNvSpPr/>
          <p:nvPr/>
        </p:nvSpPr>
        <p:spPr>
          <a:xfrm>
            <a:off x="4910742" y="3804047"/>
            <a:ext cx="3661758" cy="375047"/>
          </a:xfrm>
          <a:prstGeom prst="rect">
            <a:avLst/>
          </a:prstGeom>
          <a:solidFill>
            <a:srgbClr val="1B3022"/>
          </a:solidFill>
          <a:ln/>
        </p:spPr>
        <p:txBody>
          <a:bodyPr/>
          <a:lstStyle/>
          <a:p>
            <a:endParaRPr lang="en-ZA"/>
          </a:p>
        </p:txBody>
      </p:sp>
      <p:sp>
        <p:nvSpPr>
          <p:cNvPr id="24" name="Shape 17"/>
          <p:cNvSpPr/>
          <p:nvPr/>
        </p:nvSpPr>
        <p:spPr>
          <a:xfrm>
            <a:off x="4910742" y="4171950"/>
            <a:ext cx="3661758" cy="7144"/>
          </a:xfrm>
          <a:prstGeom prst="rect">
            <a:avLst/>
          </a:prstGeom>
          <a:solidFill>
            <a:srgbClr val="DDDDDD"/>
          </a:solidFill>
          <a:ln/>
        </p:spPr>
        <p:txBody>
          <a:bodyPr/>
          <a:lstStyle/>
          <a:p>
            <a:endParaRPr lang="en-ZA"/>
          </a:p>
        </p:txBody>
      </p:sp>
      <p:sp>
        <p:nvSpPr>
          <p:cNvPr id="25" name="Text 18"/>
          <p:cNvSpPr/>
          <p:nvPr/>
        </p:nvSpPr>
        <p:spPr>
          <a:xfrm>
            <a:off x="4910742" y="3804047"/>
            <a:ext cx="3661758" cy="375047"/>
          </a:xfrm>
          <a:prstGeom prst="rect">
            <a:avLst/>
          </a:prstGeom>
          <a:noFill/>
          <a:ln/>
        </p:spPr>
        <p:txBody>
          <a:bodyPr wrap="square" lIns="127508" tIns="127508" rIns="127508" bIns="127508" rtlCol="0" anchor="ctr">
            <a:spAutoFit/>
          </a:bodyPr>
          <a:lstStyle/>
          <a:p>
            <a:pPr marL="0" indent="0" algn="l">
              <a:buNone/>
            </a:pPr>
            <a:r>
              <a:rPr lang="en-US" sz="900" b="1" dirty="0">
                <a:solidFill>
                  <a:srgbClr val="D4AF37"/>
                </a:solidFill>
                <a:latin typeface="Montserrat Bold" pitchFamily="34" charset="0"/>
                <a:ea typeface="Montserrat Bold" pitchFamily="34" charset="-122"/>
                <a:cs typeface="Montserrat Bold" pitchFamily="34" charset="-120"/>
              </a:rPr>
              <a:t>Besigheidsvoordeel</a:t>
            </a:r>
            <a:endParaRPr lang="en-US" sz="900" dirty="0"/>
          </a:p>
        </p:txBody>
      </p:sp>
      <p:sp>
        <p:nvSpPr>
          <p:cNvPr id="26" name="Text 19"/>
          <p:cNvSpPr/>
          <p:nvPr/>
        </p:nvSpPr>
        <p:spPr>
          <a:xfrm>
            <a:off x="571500" y="4175522"/>
            <a:ext cx="1619148" cy="357188"/>
          </a:xfrm>
          <a:prstGeom prst="rect">
            <a:avLst/>
          </a:prstGeom>
          <a:noFill/>
          <a:ln/>
        </p:spPr>
        <p:txBody>
          <a:bodyPr wrap="square" lIns="127508" tIns="127508" rIns="127508" bIns="127508" rtlCol="0" anchor="ctr">
            <a:spAutoFit/>
          </a:bodyPr>
          <a:lstStyle/>
          <a:p>
            <a:pPr marL="0" indent="0" algn="l">
              <a:buNone/>
            </a:pPr>
            <a:r>
              <a:rPr lang="en-US" sz="850" dirty="0">
                <a:solidFill>
                  <a:srgbClr val="2C2C2C"/>
                </a:solidFill>
                <a:latin typeface="Montserrat" pitchFamily="34" charset="0"/>
                <a:ea typeface="Montserrat" pitchFamily="34" charset="-122"/>
                <a:cs typeface="Montserrat" pitchFamily="34" charset="-120"/>
              </a:rPr>
              <a:t>Vloeibare Uitleg</a:t>
            </a:r>
            <a:endParaRPr lang="en-US" sz="850" dirty="0"/>
          </a:p>
        </p:txBody>
      </p:sp>
      <p:sp>
        <p:nvSpPr>
          <p:cNvPr id="27" name="Text 20"/>
          <p:cNvSpPr/>
          <p:nvPr/>
        </p:nvSpPr>
        <p:spPr>
          <a:xfrm>
            <a:off x="2190648" y="4175522"/>
            <a:ext cx="2720094" cy="357188"/>
          </a:xfrm>
          <a:prstGeom prst="rect">
            <a:avLst/>
          </a:prstGeom>
          <a:noFill/>
          <a:ln/>
        </p:spPr>
        <p:txBody>
          <a:bodyPr wrap="square" lIns="127508" tIns="127508" rIns="127508" bIns="127508" rtlCol="0" anchor="ctr">
            <a:spAutoFit/>
          </a:bodyPr>
          <a:lstStyle/>
          <a:p>
            <a:pPr marL="0" indent="0" algn="l">
              <a:buNone/>
            </a:pPr>
            <a:r>
              <a:rPr lang="en-US" sz="850" dirty="0">
                <a:solidFill>
                  <a:srgbClr val="2C2C2C"/>
                </a:solidFill>
                <a:latin typeface="Montserrat" pitchFamily="34" charset="0"/>
                <a:ea typeface="Montserrat" pitchFamily="34" charset="-122"/>
                <a:cs typeface="Montserrat" pitchFamily="34" charset="-120"/>
              </a:rPr>
              <a:t>CSS Flexbox &amp; Grid met Media Queries</a:t>
            </a:r>
            <a:endParaRPr lang="en-US" sz="850" dirty="0"/>
          </a:p>
        </p:txBody>
      </p:sp>
      <p:sp>
        <p:nvSpPr>
          <p:cNvPr id="28" name="Text 21"/>
          <p:cNvSpPr/>
          <p:nvPr/>
        </p:nvSpPr>
        <p:spPr>
          <a:xfrm>
            <a:off x="4910742" y="4175522"/>
            <a:ext cx="3661758" cy="357188"/>
          </a:xfrm>
          <a:prstGeom prst="rect">
            <a:avLst/>
          </a:prstGeom>
          <a:noFill/>
          <a:ln/>
        </p:spPr>
        <p:txBody>
          <a:bodyPr wrap="square" lIns="127508" tIns="127508" rIns="127508" bIns="127508" rtlCol="0" anchor="ctr">
            <a:spAutoFit/>
          </a:bodyPr>
          <a:lstStyle/>
          <a:p>
            <a:pPr marL="0" indent="0" algn="l">
              <a:buNone/>
            </a:pPr>
            <a:r>
              <a:rPr lang="en-US" sz="850" dirty="0">
                <a:solidFill>
                  <a:srgbClr val="2C2C2C"/>
                </a:solidFill>
                <a:latin typeface="Montserrat" pitchFamily="34" charset="0"/>
                <a:ea typeface="Montserrat" pitchFamily="34" charset="-122"/>
                <a:cs typeface="Montserrat" pitchFamily="34" charset="-120"/>
              </a:rPr>
              <a:t>Geen verlies aan inligting op enige skermgrootte nie.</a:t>
            </a:r>
            <a:endParaRPr lang="en-US" sz="850" dirty="0"/>
          </a:p>
        </p:txBody>
      </p:sp>
      <p:sp>
        <p:nvSpPr>
          <p:cNvPr id="29" name="Text 22"/>
          <p:cNvSpPr/>
          <p:nvPr/>
        </p:nvSpPr>
        <p:spPr>
          <a:xfrm>
            <a:off x="571500" y="4532709"/>
            <a:ext cx="1619148" cy="360759"/>
          </a:xfrm>
          <a:prstGeom prst="rect">
            <a:avLst/>
          </a:prstGeom>
          <a:noFill/>
          <a:ln/>
        </p:spPr>
        <p:txBody>
          <a:bodyPr wrap="square" lIns="127508" tIns="127508" rIns="127508" bIns="127508" rtlCol="0" anchor="ctr">
            <a:spAutoFit/>
          </a:bodyPr>
          <a:lstStyle/>
          <a:p>
            <a:pPr marL="0" indent="0" algn="l">
              <a:buNone/>
            </a:pPr>
            <a:r>
              <a:rPr lang="en-US" sz="850" dirty="0">
                <a:solidFill>
                  <a:srgbClr val="2C2C2C"/>
                </a:solidFill>
                <a:latin typeface="Montserrat" pitchFamily="34" charset="0"/>
                <a:ea typeface="Montserrat" pitchFamily="34" charset="-122"/>
                <a:cs typeface="Montserrat" pitchFamily="34" charset="-120"/>
              </a:rPr>
              <a:t>Beeld Optimalisering</a:t>
            </a:r>
            <a:endParaRPr lang="en-US" sz="850" dirty="0"/>
          </a:p>
        </p:txBody>
      </p:sp>
      <p:sp>
        <p:nvSpPr>
          <p:cNvPr id="30" name="Text 23"/>
          <p:cNvSpPr/>
          <p:nvPr/>
        </p:nvSpPr>
        <p:spPr>
          <a:xfrm>
            <a:off x="2190648" y="4532709"/>
            <a:ext cx="2720094" cy="360759"/>
          </a:xfrm>
          <a:prstGeom prst="rect">
            <a:avLst/>
          </a:prstGeom>
          <a:noFill/>
          <a:ln/>
        </p:spPr>
        <p:txBody>
          <a:bodyPr wrap="square" lIns="127508" tIns="127508" rIns="127508" bIns="127508" rtlCol="0" anchor="ctr">
            <a:spAutoFit/>
          </a:bodyPr>
          <a:lstStyle/>
          <a:p>
            <a:pPr marL="0" indent="0" algn="l">
              <a:buNone/>
            </a:pPr>
            <a:r>
              <a:rPr lang="en-US" sz="850" dirty="0">
                <a:solidFill>
                  <a:srgbClr val="2C2C2C"/>
                </a:solidFill>
                <a:latin typeface="Montserrat" pitchFamily="34" charset="0"/>
                <a:ea typeface="Montserrat" pitchFamily="34" charset="-122"/>
                <a:cs typeface="Montserrat" pitchFamily="34" charset="-120"/>
              </a:rPr>
              <a:t>Responsiewe beeldbestuur</a:t>
            </a:r>
            <a:endParaRPr lang="en-US" sz="850" dirty="0"/>
          </a:p>
        </p:txBody>
      </p:sp>
      <p:sp>
        <p:nvSpPr>
          <p:cNvPr id="31" name="Text 24"/>
          <p:cNvSpPr/>
          <p:nvPr/>
        </p:nvSpPr>
        <p:spPr>
          <a:xfrm>
            <a:off x="4910742" y="4532709"/>
            <a:ext cx="3661758" cy="360759"/>
          </a:xfrm>
          <a:prstGeom prst="rect">
            <a:avLst/>
          </a:prstGeom>
          <a:noFill/>
          <a:ln/>
        </p:spPr>
        <p:txBody>
          <a:bodyPr wrap="square" lIns="127508" tIns="127508" rIns="127508" bIns="127508" rtlCol="0" anchor="ctr">
            <a:spAutoFit/>
          </a:bodyPr>
          <a:lstStyle/>
          <a:p>
            <a:pPr marL="0" indent="0" algn="l">
              <a:buNone/>
            </a:pPr>
            <a:r>
              <a:rPr lang="en-US" sz="850" dirty="0">
                <a:solidFill>
                  <a:srgbClr val="2C2C2C"/>
                </a:solidFill>
                <a:latin typeface="Montserrat" pitchFamily="34" charset="0"/>
                <a:ea typeface="Montserrat" pitchFamily="34" charset="-122"/>
                <a:cs typeface="Montserrat" pitchFamily="34" charset="-120"/>
              </a:rPr>
              <a:t>Vinnige laai-tye selfs op mobiele data-netwerke.</a:t>
            </a:r>
            <a:endParaRPr lang="en-US" sz="850" dirty="0"/>
          </a:p>
        </p:txBody>
      </p:sp>
      <p:cxnSp>
        <p:nvCxnSpPr>
          <p:cNvPr id="32" name="Straight Connector 31">
            <a:extLst>
              <a:ext uri="{FF2B5EF4-FFF2-40B4-BE49-F238E27FC236}">
                <a16:creationId xmlns:a16="http://schemas.microsoft.com/office/drawing/2014/main" id="{884D2678-1897-4FFD-D081-FF3ACA359924}"/>
              </a:ext>
            </a:extLst>
          </p:cNvPr>
          <p:cNvCxnSpPr/>
          <p:nvPr/>
        </p:nvCxnSpPr>
        <p:spPr>
          <a:xfrm>
            <a:off x="571500" y="4532709"/>
            <a:ext cx="8001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086C3BE-8506-4028-70B4-63D047DDC380}"/>
              </a:ext>
            </a:extLst>
          </p:cNvPr>
          <p:cNvCxnSpPr/>
          <p:nvPr/>
        </p:nvCxnSpPr>
        <p:spPr>
          <a:xfrm>
            <a:off x="571500" y="4887002"/>
            <a:ext cx="8001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Shape 0"/>
          <p:cNvSpPr/>
          <p:nvPr/>
        </p:nvSpPr>
        <p:spPr>
          <a:xfrm>
            <a:off x="4857750" y="0"/>
            <a:ext cx="4286250" cy="5143500"/>
          </a:xfrm>
          <a:prstGeom prst="rect">
            <a:avLst/>
          </a:prstGeom>
          <a:solidFill>
            <a:srgbClr val="1B3022">
              <a:alpha val="90000"/>
            </a:srgbClr>
          </a:solidFill>
          <a:ln/>
        </p:spPr>
        <p:txBody>
          <a:bodyPr/>
          <a:lstStyle/>
          <a:p>
            <a:endParaRPr lang="en-ZA"/>
          </a:p>
        </p:txBody>
      </p:sp>
      <p:sp>
        <p:nvSpPr>
          <p:cNvPr id="5" name="Shape 1"/>
          <p:cNvSpPr/>
          <p:nvPr/>
        </p:nvSpPr>
        <p:spPr>
          <a:xfrm>
            <a:off x="4857750" y="0"/>
            <a:ext cx="71438" cy="5143500"/>
          </a:xfrm>
          <a:prstGeom prst="rect">
            <a:avLst/>
          </a:prstGeom>
          <a:solidFill>
            <a:srgbClr val="D4AF37"/>
          </a:solidFill>
          <a:ln/>
        </p:spPr>
        <p:txBody>
          <a:bodyPr/>
          <a:lstStyle/>
          <a:p>
            <a:endParaRPr lang="en-ZA"/>
          </a:p>
        </p:txBody>
      </p:sp>
      <p:sp>
        <p:nvSpPr>
          <p:cNvPr id="6" name="Text 2"/>
          <p:cNvSpPr/>
          <p:nvPr/>
        </p:nvSpPr>
        <p:spPr>
          <a:xfrm>
            <a:off x="5286375" y="571500"/>
            <a:ext cx="3429000" cy="720068"/>
          </a:xfrm>
          <a:prstGeom prst="rect">
            <a:avLst/>
          </a:prstGeom>
          <a:noFill/>
          <a:ln/>
        </p:spPr>
        <p:txBody>
          <a:bodyPr wrap="square" lIns="0" tIns="0" rIns="0" bIns="0" rtlCol="0" anchor="t">
            <a:spAutoFit/>
          </a:bodyPr>
          <a:lstStyle/>
          <a:p>
            <a:pPr marL="0" indent="0" algn="l">
              <a:lnSpc>
                <a:spcPct val="96000"/>
              </a:lnSpc>
              <a:buNone/>
            </a:pPr>
            <a:r>
              <a:rPr lang="en-US" sz="2100" b="1" dirty="0">
                <a:solidFill>
                  <a:srgbClr val="D4AF37"/>
                </a:solidFill>
                <a:latin typeface="Montserrat Bold" pitchFamily="34" charset="0"/>
                <a:ea typeface="Montserrat Bold" pitchFamily="34" charset="-122"/>
                <a:cs typeface="Montserrat Bold" pitchFamily="34" charset="-120"/>
              </a:rPr>
              <a:t>Toekomsgerigte Oplossings en Groei</a:t>
            </a:r>
            <a:endParaRPr lang="en-US" sz="2100" dirty="0"/>
          </a:p>
        </p:txBody>
      </p:sp>
      <p:pic>
        <p:nvPicPr>
          <p:cNvPr id="7" name="Image 1" descr="preencoded.png"/>
          <p:cNvPicPr>
            <a:picLocks noChangeAspect="1"/>
          </p:cNvPicPr>
          <p:nvPr/>
        </p:nvPicPr>
        <p:blipFill>
          <a:blip r:embed="rId4"/>
          <a:stretch>
            <a:fillRect/>
          </a:stretch>
        </p:blipFill>
        <p:spPr>
          <a:xfrm>
            <a:off x="5286375" y="1664829"/>
            <a:ext cx="214313" cy="171450"/>
          </a:xfrm>
          <a:prstGeom prst="rect">
            <a:avLst/>
          </a:prstGeom>
        </p:spPr>
      </p:pic>
      <p:sp>
        <p:nvSpPr>
          <p:cNvPr id="8" name="Text 3"/>
          <p:cNvSpPr/>
          <p:nvPr/>
        </p:nvSpPr>
        <p:spPr>
          <a:xfrm>
            <a:off x="5643563" y="1791630"/>
            <a:ext cx="3071813" cy="173236"/>
          </a:xfrm>
          <a:prstGeom prst="rect">
            <a:avLst/>
          </a:prstGeom>
          <a:noFill/>
          <a:ln/>
        </p:spPr>
        <p:txBody>
          <a:bodyPr wrap="square" lIns="0" tIns="0" rIns="0" bIns="0" rtlCol="0" anchor="t">
            <a:spAutoFit/>
          </a:bodyPr>
          <a:lstStyle/>
          <a:p>
            <a:pPr marL="0" indent="0" algn="l">
              <a:buNone/>
            </a:pPr>
            <a:r>
              <a:rPr lang="en-US" sz="1000" b="1" dirty="0">
                <a:solidFill>
                  <a:srgbClr val="D4AF37"/>
                </a:solidFill>
                <a:latin typeface="Montserrat Bold" pitchFamily="34" charset="0"/>
                <a:ea typeface="Montserrat Bold" pitchFamily="34" charset="-122"/>
                <a:cs typeface="Montserrat Bold" pitchFamily="34" charset="-120"/>
              </a:rPr>
              <a:t>Wolk-integrasie</a:t>
            </a:r>
            <a:endParaRPr lang="en-US" sz="1000" dirty="0"/>
          </a:p>
        </p:txBody>
      </p:sp>
      <p:sp>
        <p:nvSpPr>
          <p:cNvPr id="9" name="Text 4"/>
          <p:cNvSpPr/>
          <p:nvPr/>
        </p:nvSpPr>
        <p:spPr>
          <a:xfrm>
            <a:off x="5643563" y="2072022"/>
            <a:ext cx="3071813" cy="300038"/>
          </a:xfrm>
          <a:prstGeom prst="rect">
            <a:avLst/>
          </a:prstGeom>
          <a:noFill/>
          <a:ln/>
        </p:spPr>
        <p:txBody>
          <a:bodyPr wrap="square" lIns="0" tIns="0" rIns="0" bIns="0" rtlCol="0" anchor="t">
            <a:spAutoFit/>
          </a:bodyPr>
          <a:lstStyle/>
          <a:p>
            <a:pPr marL="0" indent="0" algn="l">
              <a:lnSpc>
                <a:spcPct val="112000"/>
              </a:lnSpc>
              <a:buNone/>
            </a:pPr>
            <a:r>
              <a:rPr lang="en-US" sz="800" dirty="0">
                <a:solidFill>
                  <a:srgbClr val="CCCCCC"/>
                </a:solidFill>
                <a:latin typeface="Montserrat" pitchFamily="34" charset="0"/>
                <a:ea typeface="Montserrat" pitchFamily="34" charset="-122"/>
                <a:cs typeface="Montserrat" pitchFamily="34" charset="-120"/>
              </a:rPr>
              <a:t>Migrasie na gesentraliseerde SQL-bedieners vir intydse multi-gebruiker samewerking.</a:t>
            </a:r>
            <a:endParaRPr lang="en-US" sz="800" dirty="0"/>
          </a:p>
        </p:txBody>
      </p:sp>
      <p:pic>
        <p:nvPicPr>
          <p:cNvPr id="10" name="Image 2" descr="preencoded.png"/>
          <p:cNvPicPr>
            <a:picLocks noChangeAspect="1"/>
          </p:cNvPicPr>
          <p:nvPr/>
        </p:nvPicPr>
        <p:blipFill>
          <a:blip r:embed="rId5"/>
          <a:stretch>
            <a:fillRect/>
          </a:stretch>
        </p:blipFill>
        <p:spPr>
          <a:xfrm>
            <a:off x="5286375" y="2645308"/>
            <a:ext cx="171450" cy="171450"/>
          </a:xfrm>
          <a:prstGeom prst="rect">
            <a:avLst/>
          </a:prstGeom>
        </p:spPr>
      </p:pic>
      <p:sp>
        <p:nvSpPr>
          <p:cNvPr id="11" name="Text 5"/>
          <p:cNvSpPr/>
          <p:nvPr/>
        </p:nvSpPr>
        <p:spPr>
          <a:xfrm>
            <a:off x="5643563" y="2772110"/>
            <a:ext cx="3071813" cy="173236"/>
          </a:xfrm>
          <a:prstGeom prst="rect">
            <a:avLst/>
          </a:prstGeom>
          <a:noFill/>
          <a:ln/>
        </p:spPr>
        <p:txBody>
          <a:bodyPr wrap="square" lIns="0" tIns="0" rIns="0" bIns="0" rtlCol="0" anchor="t">
            <a:spAutoFit/>
          </a:bodyPr>
          <a:lstStyle/>
          <a:p>
            <a:pPr marL="0" indent="0" algn="l">
              <a:buNone/>
            </a:pPr>
            <a:r>
              <a:rPr lang="en-US" sz="1000" b="1" dirty="0">
                <a:solidFill>
                  <a:srgbClr val="D4AF37"/>
                </a:solidFill>
                <a:latin typeface="Montserrat Bold" pitchFamily="34" charset="0"/>
                <a:ea typeface="Montserrat Bold" pitchFamily="34" charset="-122"/>
                <a:cs typeface="Montserrat Bold" pitchFamily="34" charset="-120"/>
              </a:rPr>
              <a:t>IoT Monitering</a:t>
            </a:r>
            <a:endParaRPr lang="en-US" sz="1000" dirty="0"/>
          </a:p>
        </p:txBody>
      </p:sp>
      <p:sp>
        <p:nvSpPr>
          <p:cNvPr id="12" name="Text 6"/>
          <p:cNvSpPr/>
          <p:nvPr/>
        </p:nvSpPr>
        <p:spPr>
          <a:xfrm>
            <a:off x="5643563" y="3052502"/>
            <a:ext cx="3071813" cy="300038"/>
          </a:xfrm>
          <a:prstGeom prst="rect">
            <a:avLst/>
          </a:prstGeom>
          <a:noFill/>
          <a:ln/>
        </p:spPr>
        <p:txBody>
          <a:bodyPr wrap="square" lIns="0" tIns="0" rIns="0" bIns="0" rtlCol="0" anchor="t">
            <a:spAutoFit/>
          </a:bodyPr>
          <a:lstStyle/>
          <a:p>
            <a:pPr marL="0" indent="0" algn="l">
              <a:lnSpc>
                <a:spcPct val="112000"/>
              </a:lnSpc>
              <a:buNone/>
            </a:pPr>
            <a:r>
              <a:rPr lang="en-US" sz="800" dirty="0">
                <a:solidFill>
                  <a:srgbClr val="CCCCCC"/>
                </a:solidFill>
                <a:latin typeface="Montserrat" pitchFamily="34" charset="0"/>
                <a:ea typeface="Montserrat" pitchFamily="34" charset="-122"/>
                <a:cs typeface="Montserrat" pitchFamily="34" charset="-120"/>
              </a:rPr>
              <a:t>Integrasie met slim-sensors vir outomatiese monitering van water- en voervlakke.</a:t>
            </a:r>
            <a:endParaRPr lang="en-US" sz="800" dirty="0"/>
          </a:p>
        </p:txBody>
      </p:sp>
      <p:pic>
        <p:nvPicPr>
          <p:cNvPr id="13" name="Image 3" descr="preencoded.png"/>
          <p:cNvPicPr>
            <a:picLocks noChangeAspect="1"/>
          </p:cNvPicPr>
          <p:nvPr/>
        </p:nvPicPr>
        <p:blipFill>
          <a:blip r:embed="rId6"/>
          <a:stretch>
            <a:fillRect/>
          </a:stretch>
        </p:blipFill>
        <p:spPr>
          <a:xfrm>
            <a:off x="5286375" y="3625788"/>
            <a:ext cx="192881" cy="171450"/>
          </a:xfrm>
          <a:prstGeom prst="rect">
            <a:avLst/>
          </a:prstGeom>
        </p:spPr>
      </p:pic>
      <p:sp>
        <p:nvSpPr>
          <p:cNvPr id="14" name="Text 7"/>
          <p:cNvSpPr/>
          <p:nvPr/>
        </p:nvSpPr>
        <p:spPr>
          <a:xfrm>
            <a:off x="5643563" y="3752590"/>
            <a:ext cx="3071813" cy="173236"/>
          </a:xfrm>
          <a:prstGeom prst="rect">
            <a:avLst/>
          </a:prstGeom>
          <a:noFill/>
          <a:ln/>
        </p:spPr>
        <p:txBody>
          <a:bodyPr wrap="square" lIns="0" tIns="0" rIns="0" bIns="0" rtlCol="0" anchor="t">
            <a:spAutoFit/>
          </a:bodyPr>
          <a:lstStyle/>
          <a:p>
            <a:pPr marL="0" indent="0" algn="l">
              <a:buNone/>
            </a:pPr>
            <a:r>
              <a:rPr lang="en-US" sz="1000" b="1" dirty="0">
                <a:solidFill>
                  <a:srgbClr val="D4AF37"/>
                </a:solidFill>
                <a:latin typeface="Montserrat Bold" pitchFamily="34" charset="0"/>
                <a:ea typeface="Montserrat Bold" pitchFamily="34" charset="-122"/>
                <a:cs typeface="Montserrat Bold" pitchFamily="34" charset="-120"/>
              </a:rPr>
              <a:t>KI-Analise</a:t>
            </a:r>
            <a:endParaRPr lang="en-US" sz="1000" dirty="0"/>
          </a:p>
        </p:txBody>
      </p:sp>
      <p:sp>
        <p:nvSpPr>
          <p:cNvPr id="15" name="Text 8"/>
          <p:cNvSpPr/>
          <p:nvPr/>
        </p:nvSpPr>
        <p:spPr>
          <a:xfrm>
            <a:off x="5643563" y="4032982"/>
            <a:ext cx="3071813" cy="300038"/>
          </a:xfrm>
          <a:prstGeom prst="rect">
            <a:avLst/>
          </a:prstGeom>
          <a:noFill/>
          <a:ln/>
        </p:spPr>
        <p:txBody>
          <a:bodyPr wrap="square" lIns="0" tIns="0" rIns="0" bIns="0" rtlCol="0" anchor="t">
            <a:spAutoFit/>
          </a:bodyPr>
          <a:lstStyle/>
          <a:p>
            <a:pPr marL="0" indent="0" algn="l">
              <a:lnSpc>
                <a:spcPct val="112000"/>
              </a:lnSpc>
              <a:buNone/>
            </a:pPr>
            <a:r>
              <a:rPr lang="en-US" sz="800" dirty="0">
                <a:solidFill>
                  <a:srgbClr val="CCCCCC"/>
                </a:solidFill>
                <a:latin typeface="Montserrat" pitchFamily="34" charset="0"/>
                <a:ea typeface="Montserrat" pitchFamily="34" charset="-122"/>
                <a:cs typeface="Montserrat" pitchFamily="34" charset="-120"/>
              </a:rPr>
              <a:t>Voorspellende analise vir optimale mark-gereedheid en wol-opbrengs voorspellings.</a:t>
            </a:r>
            <a:endParaRPr lang="en-US" sz="800" dirty="0"/>
          </a:p>
        </p:txBody>
      </p:sp>
      <p:sp>
        <p:nvSpPr>
          <p:cNvPr id="16" name="Text 9"/>
          <p:cNvSpPr/>
          <p:nvPr/>
        </p:nvSpPr>
        <p:spPr>
          <a:xfrm>
            <a:off x="5286375" y="4748808"/>
            <a:ext cx="3429000" cy="394692"/>
          </a:xfrm>
          <a:prstGeom prst="rect">
            <a:avLst/>
          </a:prstGeom>
          <a:noFill/>
          <a:ln/>
        </p:spPr>
        <p:txBody>
          <a:bodyPr wrap="square" lIns="0" tIns="204089" rIns="0" bIns="0" rtlCol="0" anchor="t">
            <a:spAutoFit/>
          </a:bodyPr>
          <a:lstStyle/>
          <a:p>
            <a:pPr marL="0" indent="0" algn="ctr">
              <a:buNone/>
            </a:pPr>
            <a:r>
              <a:rPr lang="en-US" sz="1200" b="1" dirty="0">
                <a:solidFill>
                  <a:srgbClr val="F9F9F9"/>
                </a:solidFill>
                <a:latin typeface="Montserrat Bold" pitchFamily="34" charset="0"/>
                <a:ea typeface="Montserrat Bold" pitchFamily="34" charset="-122"/>
                <a:cs typeface="Montserrat Bold" pitchFamily="34" charset="-120"/>
              </a:rPr>
              <a:t>Gereed vir die Toekoms van Boerdery</a:t>
            </a:r>
            <a:endParaRPr lang="en-US" sz="1200" dirty="0"/>
          </a:p>
        </p:txBody>
      </p:sp>
    </p:spTree>
  </p:cSld>
  <p:clrMapOvr>
    <a:masterClrMapping/>
  </p:clrMapOvr>
</p:sld>
</file>

<file path=ppt/theme/theme1.xml><?xml version="1.0" encoding="utf-8"?>
<a:theme xmlns:a="http://schemas.openxmlformats.org/drawingml/2006/main" name="Theme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2" id="{CE76052A-7BFC-4E23-AF91-C4FCDD2DFF25}" vid="{0C4EB9DD-7321-4100-8E51-A9014B636A3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Theme2</Template>
  <TotalTime>107</TotalTime>
  <Words>1356</Words>
  <Application>Microsoft Office PowerPoint</Application>
  <PresentationFormat>On-screen Show (16:9)</PresentationFormat>
  <Paragraphs>122</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Montserrat Bold</vt:lpstr>
      <vt:lpstr>Arial</vt:lpstr>
      <vt:lpstr>Courier New</vt:lpstr>
      <vt:lpstr>Montserrat</vt:lpstr>
      <vt:lpstr>Theme2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Noelle Steenkamp</cp:lastModifiedBy>
  <cp:revision>10</cp:revision>
  <dcterms:created xsi:type="dcterms:W3CDTF">2026-05-13T13:20:47Z</dcterms:created>
  <dcterms:modified xsi:type="dcterms:W3CDTF">2026-05-13T15:10:02Z</dcterms:modified>
</cp:coreProperties>
</file>